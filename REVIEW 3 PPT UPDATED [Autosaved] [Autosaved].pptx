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83" r:id="rId3"/>
    <p:sldId id="287" r:id="rId4"/>
    <p:sldId id="288" r:id="rId5"/>
    <p:sldId id="289" r:id="rId6"/>
    <p:sldId id="274" r:id="rId7"/>
    <p:sldId id="292" r:id="rId8"/>
    <p:sldId id="275" r:id="rId9"/>
    <p:sldId id="277" r:id="rId10"/>
    <p:sldId id="279" r:id="rId11"/>
    <p:sldId id="281" r:id="rId12"/>
    <p:sldId id="282" r:id="rId13"/>
    <p:sldId id="280" r:id="rId14"/>
    <p:sldId id="284" r:id="rId15"/>
    <p:sldId id="285" r:id="rId16"/>
    <p:sldId id="286" r:id="rId17"/>
    <p:sldId id="290" r:id="rId18"/>
    <p:sldId id="291" r:id="rId19"/>
    <p:sldId id="268" r:id="rId20"/>
    <p:sldId id="272" r:id="rId21"/>
    <p:sldId id="270" r:id="rId22"/>
    <p:sldId id="265" r:id="rId23"/>
    <p:sldId id="26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36.2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24575,'91'-2'0,"101"5"0,-129 8 0,-46-7 0,0 0 0,27 1 0,26-5-1365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39.4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24575,'4'0'0,"5"0"0,5 0 0,4 0 0,4 0 0,1 0 0,1 0 0,1 0 0,-1 0 0,1 0 0,-1 0 0,0 0 0,0 0 0,-1 0 0,1 0 0,-1 0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42.3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26 24575,'34'0'0,"-1"1"0,1-2 0,-1-1 0,56-10 0,-59 7-32,0 1 0,1 2 1,56 2-1,-40 1-1206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45.0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73 24575,'77'1'0,"82"-3"0,-148 1 0,-1-2 0,1 1 0,-1-1 0,0-1 0,12-5 0,-12 4 0,1 1 0,-1 0 0,1 1 0,15-3 0,49 3 0,-58 4 0,-1-1 0,1-1 0,-1-1 0,22-4 0,-6 0-31,1 1 0,0 1 0,-1 2 0,51 4 0,-29-1-1179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48.9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0 120 24575,'0'-1'0,"1"0"0,-1 0 0,0 0 0,1 0 0,-1 1 0,1-1 0,-1 0 0,1 0 0,-1 1 0,1-1 0,-1 0 0,1 1 0,0-1 0,-1 0 0,1 1 0,0-1 0,0 1 0,-1-1 0,1 1 0,0 0 0,0-1 0,0 1 0,0 0 0,1-1 0,30-7 0,-17 5 0,4-2 0,0 0 0,1 2 0,-1 0 0,1 1 0,20 1 0,18-1 0,-42-1 0,0 0 0,0-1 0,0-1 0,-1 0 0,22-11 0,-23 10 0,0 0 0,1 1 0,-1 0 0,1 1 0,0 0 0,18-1 0,136 5 232,-79 1-1829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53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178 96 24575,'-4'-1'0,"0"0"0,0 0 0,-1-1 0,1 0 0,0 0 0,1 0 0,-1 0 0,-5-4 0,-10-5 0,-7-1 0,2 0 0,-44-30 0,84 106 0,-3-18 220,-10-34-418,0-1 0,1 1 0,1 0 0,-1-1-1,2 0 1,-1 0 0,9 11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3:56.9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 24575,'4'0'0,"5"0"0,6 0 0,3 0 0,0-4 0,0-1 0,1 0 0,1 1 0,-2-3 0,-9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7:14:16.3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2" Type="http://schemas.openxmlformats.org/officeDocument/2006/relationships/image" Target="../media/image7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kshmipriyanarayan/CSE_4_PSCS_4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Al-BASED TOOL FOR PRELIMINARY DIAGNOSIS OF DERMATOLOGICAL MANIFESTATIONS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800" dirty="0"/>
              <a:t>CSE_4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IN" sz="17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Jerrin Joe Francis</a:t>
            </a:r>
            <a:endParaRPr sz="17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922547854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b="1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20221CSE0374</a:t>
                      </a:r>
                      <a:endParaRPr sz="1800" b="1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LAKSHMI PRIYA NARAYAN</a:t>
                      </a:r>
                      <a:endParaRPr sz="1800" b="1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20221CSE0046</a:t>
                      </a:r>
                      <a:endParaRPr sz="1800" b="1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HEMANTH K</a:t>
                      </a:r>
                      <a:endParaRPr sz="1800" b="1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20221CSE0045</a:t>
                      </a:r>
                      <a:endParaRPr sz="1800" b="1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VANKAM VISWA SAI</a:t>
                      </a:r>
                      <a:endParaRPr sz="1800" b="1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  <a:sym typeface="Verdana"/>
              </a:rPr>
              <a:t>BTech-Computer Science and Engineering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Asif Mohammed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Jayavadivel Ravi</a:t>
            </a:r>
            <a:r>
              <a:rPr lang="en-IN" sz="1800" dirty="0"/>
              <a:t>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C0E2-C50F-006C-9D44-ED1F5E6E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9068-BD1B-EA12-449E-821A7F791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(Gantt Chart)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79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3AD0-13B8-7456-E77B-1E35A85C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D3F932-7A66-EC6E-D562-BF2A0E5DC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34561"/>
            <a:ext cx="1085809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The timely and accurate diagnosis of dermatological diseases remains a critical challenge in global healthcare, threatening patient outcomes due to delayed assessments and a shortage of specialists.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Traditional visual diagnostic methods are often subjective and fail to provide scalable, immediate support, particularly in non-specialist clinical settings. This project develops an AI-powered diagnostic platform for dermatological analysis, leveraging deep learning to classify various skin conditions from clinical images.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8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The system combines a robust Convolutional Neural Network (CNN) for multi-class identification of diseases, a user-friendly interface for seamless image submission, and Explainable AI (XAI) to enhance diagnostic transparency.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By providing rapid, data-driven insights, the platform acts as a powerful decision support tool, aiming to improve diagnostic accuracy, increase patient access to preliminary screenings, and foster a culture of early detection in dermatological care.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51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0CD1-DE17-DE0A-2F72-7FE6BFEC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437D7-5002-9240-BBA7-2C60D3A4C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A21BE2-4938-6C5E-52DC-01F048056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900495"/>
              </p:ext>
            </p:extLst>
          </p:nvPr>
        </p:nvGraphicFramePr>
        <p:xfrm>
          <a:off x="929148" y="989639"/>
          <a:ext cx="10333704" cy="527413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1278">
                  <a:extLst>
                    <a:ext uri="{9D8B030D-6E8A-4147-A177-3AD203B41FA5}">
                      <a16:colId xmlns:a16="http://schemas.microsoft.com/office/drawing/2014/main" val="3785503400"/>
                    </a:ext>
                  </a:extLst>
                </a:gridCol>
                <a:gridCol w="1823635">
                  <a:extLst>
                    <a:ext uri="{9D8B030D-6E8A-4147-A177-3AD203B41FA5}">
                      <a16:colId xmlns:a16="http://schemas.microsoft.com/office/drawing/2014/main" val="1246016682"/>
                    </a:ext>
                  </a:extLst>
                </a:gridCol>
                <a:gridCol w="1145893">
                  <a:extLst>
                    <a:ext uri="{9D8B030D-6E8A-4147-A177-3AD203B41FA5}">
                      <a16:colId xmlns:a16="http://schemas.microsoft.com/office/drawing/2014/main" val="3396810647"/>
                    </a:ext>
                  </a:extLst>
                </a:gridCol>
                <a:gridCol w="2599388">
                  <a:extLst>
                    <a:ext uri="{9D8B030D-6E8A-4147-A177-3AD203B41FA5}">
                      <a16:colId xmlns:a16="http://schemas.microsoft.com/office/drawing/2014/main" val="3046597127"/>
                    </a:ext>
                  </a:extLst>
                </a:gridCol>
                <a:gridCol w="1752693">
                  <a:extLst>
                    <a:ext uri="{9D8B030D-6E8A-4147-A177-3AD203B41FA5}">
                      <a16:colId xmlns:a16="http://schemas.microsoft.com/office/drawing/2014/main" val="3711297263"/>
                    </a:ext>
                  </a:extLst>
                </a:gridCol>
                <a:gridCol w="2500817">
                  <a:extLst>
                    <a:ext uri="{9D8B030D-6E8A-4147-A177-3AD203B41FA5}">
                      <a16:colId xmlns:a16="http://schemas.microsoft.com/office/drawing/2014/main" val="1444908234"/>
                    </a:ext>
                  </a:extLst>
                </a:gridCol>
              </a:tblGrid>
              <a:tr h="752598">
                <a:tc>
                  <a:txBody>
                    <a:bodyPr/>
                    <a:lstStyle/>
                    <a:p>
                      <a:r>
                        <a:rPr lang="en-IN" dirty="0"/>
                        <a:t>Ref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the Author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Demirits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118781"/>
                  </a:ext>
                </a:extLst>
              </a:tr>
              <a:tr h="894421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JILDYA-Net</a:t>
                      </a:r>
                      <a:r>
                        <a:rPr lang="en-US" sz="1000" dirty="0"/>
                        <a:t>: An Efficient Lightweight Multi-Class Classification Architecture for Skin Lesions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Ayoub Laouarem, et al. (2025)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HAM10000, ISIC-2019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JILDYA-Net (ASFE, </a:t>
                      </a:r>
                      <a:r>
                        <a:rPr lang="en-IN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FNet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encoder, EAM)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 %: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98.80% (HAM10000), 95.10% (ISIC-2019)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Outperforms state-of-the-art models in accuracy and efficiency,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model's performance can be sensitive to class imbalance and small datasets, and its lightweight architecture may struggle with highly complex scenarios.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11326"/>
                  </a:ext>
                </a:extLst>
              </a:tr>
              <a:tr h="83907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Self-attention transformer unit-based deep learning framework for skin lesions classification in smart healthcare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Khosro Rezaee &amp; Hossein Ghayoumi Zadeh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ISIC-2019, PH²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Bi-branch (Transformer module, SAU, optResNet-18)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 %: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97.48% (ISIC-2019), 96.87% (PH²)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Achieves very high accuracy (97.48% on ISIC-2019) by effectively combining the strengths of both Transformer and CNN architectures.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Performance is sensitive to insufficient training data, varied imaging conditions, and artifacts like human hair.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89396"/>
                  </a:ext>
                </a:extLst>
              </a:tr>
              <a:tr h="799558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Quantization-Aware Neuromorphic Architecture for Efficient Skin Disease Classification on Resource-Constrained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Haitian Wang,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pt-BR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HAM10000, clinical dataset (Hospital Sultanah Bahiyah)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QANA (Spiking Neuromorphic SNN on Akida)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 %: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91.6% (HAM10000), 90.8% (clinical)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Delivers extremely low latency (1.5 ms) and energy use (1.7 mJ), reducing both by over 94% compared to GPU-based CNNs.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complex CNN-to-SNN conversion process can lead to accuracy loss, especially on small or imbalanced medical datasets.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60625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Detection and classification of skin diseases with ensembles of deep learning networks in medical imaging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00" dirty="0"/>
                        <a:t>A. Kalaivani &amp; Dr. S. Karpagavalli (2022)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HAM10000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</a:t>
                      </a:r>
                      <a:r>
                        <a:rPr lang="en-US" sz="900" dirty="0" err="1"/>
                        <a:t>used: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RF-DCNN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(ensemble of Random Forest and CNN)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 %: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96.1%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Achieved a higher accuracy of 96.1% compared to using a single, classical CNN classifier alone.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combined model has a longer prediction time, is more difficult to interpret, and can suffer from overfitting.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48194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Multi-Class Skin Problem Classification Using Deep Generative Adversarial Network (DGAN)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00" dirty="0"/>
                        <a:t>Maleika Heenaye-Mamode Khan, et al. (2022)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Custom (13,650 images: PH², SD-198, </a:t>
                      </a:r>
                      <a:r>
                        <a:rPr lang="en-IN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DermNet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</a:t>
                      </a:r>
                      <a:r>
                        <a:rPr lang="en-US" sz="900" dirty="0" err="1"/>
                        <a:t>used: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DGAN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(Deep Generative Adversarial Network)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 %: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92.3% (labelled), 91.1% (unlabelled)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Successfully addresses limited and imbalanced datasets, outperforming traditional augmentation by achieving 92.3% accuracy on labeled data.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 main challenge is improving the stability of the DGAN model during training, which is a common issue for GANs.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76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61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58EFA-2A43-42CD-5331-01AE0269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2476-604A-389D-26F8-2503D2B8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241A3-41EC-D80F-6FB0-98A9CB08A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C2EEF8-F70B-63A8-E310-4B1F95AF5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78514"/>
              </p:ext>
            </p:extLst>
          </p:nvPr>
        </p:nvGraphicFramePr>
        <p:xfrm>
          <a:off x="421148" y="761999"/>
          <a:ext cx="10958052" cy="6202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99440">
                  <a:extLst>
                    <a:ext uri="{9D8B030D-6E8A-4147-A177-3AD203B41FA5}">
                      <a16:colId xmlns:a16="http://schemas.microsoft.com/office/drawing/2014/main" val="3785503400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246016682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3396810647"/>
                    </a:ext>
                  </a:extLst>
                </a:gridCol>
                <a:gridCol w="2583917">
                  <a:extLst>
                    <a:ext uri="{9D8B030D-6E8A-4147-A177-3AD203B41FA5}">
                      <a16:colId xmlns:a16="http://schemas.microsoft.com/office/drawing/2014/main" val="3046597127"/>
                    </a:ext>
                  </a:extLst>
                </a:gridCol>
                <a:gridCol w="2154758">
                  <a:extLst>
                    <a:ext uri="{9D8B030D-6E8A-4147-A177-3AD203B41FA5}">
                      <a16:colId xmlns:a16="http://schemas.microsoft.com/office/drawing/2014/main" val="3711297263"/>
                    </a:ext>
                  </a:extLst>
                </a:gridCol>
                <a:gridCol w="2500817">
                  <a:extLst>
                    <a:ext uri="{9D8B030D-6E8A-4147-A177-3AD203B41FA5}">
                      <a16:colId xmlns:a16="http://schemas.microsoft.com/office/drawing/2014/main" val="1444908234"/>
                    </a:ext>
                  </a:extLst>
                </a:gridCol>
              </a:tblGrid>
              <a:tr h="388401">
                <a:tc>
                  <a:txBody>
                    <a:bodyPr/>
                    <a:lstStyle/>
                    <a:p>
                      <a:r>
                        <a:rPr lang="en-IN" sz="1000" dirty="0"/>
                        <a:t>Ref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Name of the Author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Method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Demerits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118781"/>
                  </a:ext>
                </a:extLst>
              </a:tr>
              <a:tr h="104679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Explainable AI for Skin Disease Classification Using Grad-CAM and Transfer Learning to Identify Contours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S M Saiful Islam Badhon,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</a:t>
                      </a:r>
                      <a:r>
                        <a:rPr lang="en-US" sz="900" dirty="0" err="1"/>
                        <a:t>used: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Self-collected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(5,182 images, rare skin diseases)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</a:t>
                      </a:r>
                      <a:r>
                        <a:rPr lang="en-US" sz="900" dirty="0" err="1"/>
                        <a:t>used: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Transfer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learning: VGG-16, VGG-19, 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GoogleNet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Inception, 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Xception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; best: VGG-16 (with augmentation)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Accuracy%: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97.07% (VGG-16, balanced), 95.00% (VGG-19, imbalanced)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Improves trust and interpretability by using Grad-CAM to create visual heatmaps that explain the model's predictions.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The performance of some tested models was very poor on imbalanced data before proper data augmentation was applied.</a:t>
                      </a:r>
                    </a:p>
                    <a:p>
                      <a:endParaRPr lang="en-IN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11326"/>
                  </a:ext>
                </a:extLst>
              </a:tr>
              <a:tr h="1030756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EFFICACY OF SMARTPHONE-COMPATIBLE OPTICAL INSTRUMENT FOR ASSESSING MELANOCYTIC NEVI FOR MALIGNANCY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900" b="0" dirty="0"/>
                        <a:t>Gaydina TA, Dvornikova EG (2020) </a:t>
                      </a:r>
                      <a:endParaRPr lang="en-IN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Dataset </a:t>
                      </a:r>
                      <a:r>
                        <a:rPr lang="en-US" sz="900" dirty="0" err="1"/>
                        <a:t>used:Clinical</a:t>
                      </a:r>
                      <a:r>
                        <a:rPr lang="en-US" sz="900" dirty="0"/>
                        <a:t> data, 7 patients, 74 surgically removed nevi.</a:t>
                      </a:r>
                    </a:p>
                    <a:p>
                      <a:r>
                        <a:rPr lang="en-US" sz="900" dirty="0"/>
                        <a:t>Model used:</a:t>
                      </a:r>
                      <a:r>
                        <a:rPr lang="en-IN" sz="900" dirty="0" err="1"/>
                        <a:t>Handyscope</a:t>
                      </a:r>
                      <a:r>
                        <a:rPr lang="en-IN" sz="900" dirty="0"/>
                        <a:t> optical system, Handyscope3 mobile application, Convolutional Neural Network (CNN).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Accuracy%:</a:t>
                      </a:r>
                      <a:r>
                        <a:rPr lang="en-IN" sz="900" dirty="0"/>
                        <a:t>100%.</a:t>
                      </a:r>
                      <a:endParaRPr lang="en-US" sz="900" dirty="0"/>
                    </a:p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 smartphone-compatible optical system is a real time-saver for both the physician and the patient, offering a portable and convenient method for monitoring melanocytic nevi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 primary disadvantage is that the AI assessment serves only as a screening tool, as histopathological verification of the diagnosis is still needed for confirmation.</a:t>
                      </a:r>
                      <a:endParaRPr lang="en-IN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89396"/>
                  </a:ext>
                </a:extLst>
              </a:tr>
              <a:tr h="1299649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AI in Oncology: Transforming Cancer Detection through Machine Learning and Deep Learning Applications 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Muhammad Aftab, Faisal Mehmood, </a:t>
                      </a:r>
                      <a:r>
                        <a:rPr lang="en-IN" sz="900" dirty="0" err="1"/>
                        <a:t>Chengjuan</a:t>
                      </a:r>
                      <a:r>
                        <a:rPr lang="en-IN" sz="900" dirty="0"/>
                        <a:t> Zhang,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en-IN" sz="900" dirty="0"/>
                        <a:t>Medical Imaging, Genomic and Multi-omics Data, Pathology Images,</a:t>
                      </a:r>
                      <a:r>
                        <a:rPr lang="en-US" sz="900" b="1" dirty="0"/>
                        <a:t> ISIC 2016, 2017, 2019, 2020</a:t>
                      </a:r>
                      <a:r>
                        <a:rPr lang="en-US" sz="900" dirty="0"/>
                        <a:t>, </a:t>
                      </a:r>
                      <a:r>
                        <a:rPr lang="en-US" sz="900" b="1" dirty="0"/>
                        <a:t>PH2</a:t>
                      </a:r>
                      <a:r>
                        <a:rPr lang="en-US" sz="900" dirty="0"/>
                        <a:t>, </a:t>
                      </a:r>
                      <a:r>
                        <a:rPr lang="en-US" sz="900" b="1" dirty="0"/>
                        <a:t>HAM10000</a:t>
                      </a:r>
                      <a:r>
                        <a:rPr lang="en-US" sz="900" dirty="0"/>
                        <a:t>, and </a:t>
                      </a:r>
                      <a:r>
                        <a:rPr lang="en-US" sz="900" b="1" dirty="0" err="1"/>
                        <a:t>Xiangya</a:t>
                      </a:r>
                      <a:r>
                        <a:rPr lang="en-US" sz="900" b="1" dirty="0"/>
                        <a:t>-Derm</a:t>
                      </a:r>
                      <a:r>
                        <a:rPr lang="en-US" sz="900" dirty="0"/>
                        <a:t>.</a:t>
                      </a:r>
                    </a:p>
                    <a:p>
                      <a:r>
                        <a:rPr lang="en-US" sz="900" dirty="0"/>
                        <a:t>Model used:</a:t>
                      </a:r>
                      <a:r>
                        <a:rPr lang="en-IN" sz="900" b="1" dirty="0" err="1"/>
                        <a:t>AlexNet</a:t>
                      </a:r>
                      <a:r>
                        <a:rPr lang="en-IN" sz="900" b="1" dirty="0"/>
                        <a:t>, VGG16, VGG19, ResNet50V2, ResNet101, InceptionV3, InceptionResNetV2, </a:t>
                      </a:r>
                      <a:r>
                        <a:rPr lang="en-IN" sz="900" b="1" dirty="0" err="1"/>
                        <a:t>Xception</a:t>
                      </a:r>
                      <a:r>
                        <a:rPr lang="en-IN" sz="900" b="1" dirty="0"/>
                        <a:t>, DenseNet201, MobileNetV2, and </a:t>
                      </a:r>
                      <a:r>
                        <a:rPr lang="en-IN" sz="900" b="1" dirty="0" err="1"/>
                        <a:t>NASNet</a:t>
                      </a:r>
                      <a:r>
                        <a:rPr lang="en-IN" sz="900" dirty="0"/>
                        <a:t>.</a:t>
                      </a:r>
                    </a:p>
                    <a:p>
                      <a:r>
                        <a:rPr lang="en-US" sz="900" dirty="0"/>
                        <a:t>Accuracy%:</a:t>
                      </a:r>
                      <a:r>
                        <a:rPr lang="en-IN" sz="900" dirty="0"/>
                        <a:t>98.33% 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Enhanced Diagnostic Precision, Early Detection, Efficiency and Cost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Bias in Data, Lack of Interpretability, Ethical and Regulatory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606254"/>
                  </a:ext>
                </a:extLst>
              </a:tr>
              <a:tr h="1030756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AI-Powered IoMT Framework for Remote Triage and Diagnosis in Telemedicine Applications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900" dirty="0"/>
                        <a:t>Sura Saad Mohsin, et al. (2025)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</a:t>
                      </a:r>
                      <a:r>
                        <a:rPr lang="en-US" sz="900" dirty="0" err="1"/>
                        <a:t>usedSimulated</a:t>
                      </a:r>
                      <a:r>
                        <a:rPr lang="en-US" sz="900" dirty="0"/>
                        <a:t>/virtual scenario data,</a:t>
                      </a:r>
                    </a:p>
                    <a:p>
                      <a:r>
                        <a:rPr lang="en-US" sz="900" dirty="0"/>
                        <a:t>250 </a:t>
                      </a:r>
                      <a:r>
                        <a:rPr lang="en-US" sz="900" dirty="0" err="1"/>
                        <a:t>patients,Chronic</a:t>
                      </a:r>
                      <a:r>
                        <a:rPr lang="en-US" sz="900" dirty="0"/>
                        <a:t> heart disease, Hypertension, Stroke</a:t>
                      </a:r>
                    </a:p>
                    <a:p>
                      <a:r>
                        <a:rPr lang="en-US" sz="900" dirty="0"/>
                        <a:t>Model AI-Powered IoMT Framework (RIDF)</a:t>
                      </a:r>
                    </a:p>
                    <a:p>
                      <a:r>
                        <a:rPr lang="en-US" sz="900" dirty="0"/>
                        <a:t>Rule-based algorithms</a:t>
                      </a:r>
                    </a:p>
                    <a:p>
                      <a:r>
                        <a:rPr lang="en-US" sz="900" dirty="0"/>
                        <a:t>IF-THEN rules</a:t>
                      </a:r>
                    </a:p>
                    <a:p>
                      <a:r>
                        <a:rPr lang="en-US" sz="900" dirty="0"/>
                        <a:t>Accuracy%:</a:t>
                      </a:r>
                      <a:r>
                        <a:rPr lang="en-IN" sz="900" dirty="0"/>
                        <a:t>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 framework provides a more comprehensive assessment by integrating both sensory (e.g., SpO2, blood pressure) and non-sensory (e.g., medical history) patient data. It simultaneously performs both triage and preliminary diagnosis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/>
                        <a:t>The evaluation was conducted in a simulated environment on a relatively small dataset of 250 patients and requires more validation in real-life clinical settings</a:t>
                      </a:r>
                      <a:endParaRPr lang="en-IN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481945"/>
                  </a:ext>
                </a:extLst>
              </a:tr>
              <a:tr h="1299649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 comparative analysis of lesional skin, sentinel flap, and mucosal biopsies in assessing acute face transplant rejection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900" dirty="0"/>
                        <a:t>Martin Kauke-Navarro, et al. (2025)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Dataset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Retrospective clinical: face transplant biopsies (47 mucosal/skin, 37 skin/sentinel flap)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Model used:</a:t>
                      </a: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Statistical analysis (Pearson's, ROC)</a:t>
                      </a:r>
                      <a:endParaRPr lang="en-US" sz="900" dirty="0"/>
                    </a:p>
                    <a:p>
                      <a:r>
                        <a:rPr lang="en-US" sz="900" dirty="0"/>
                        <a:t>Accuracy%: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Sensitivity 0.85 (mucosa predicting skin rejection); no classification accuracy in AI sense</a:t>
                      </a:r>
                      <a:endParaRPr lang="en-US" sz="900" dirty="0"/>
                    </a:p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 study concludes that </a:t>
                      </a:r>
                      <a:r>
                        <a:rPr lang="en-US" sz="900" b="1" dirty="0"/>
                        <a:t>mucosal biopsies are more sensitive</a:t>
                      </a:r>
                      <a:r>
                        <a:rPr lang="en-US" sz="900" dirty="0"/>
                        <a:t> and can detect rejection events missed by skin biopsies alone, suggesting they should be a routine part of monitoring.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 primary limitations are a </a:t>
                      </a:r>
                      <a:r>
                        <a:rPr lang="en-US" sz="900" b="1" dirty="0"/>
                        <a:t>very small sample size</a:t>
                      </a:r>
                      <a:r>
                        <a:rPr lang="en-US" sz="900" dirty="0"/>
                        <a:t> (nine patients), which restricts the generalizability of the findings, and that sentinel flaps were found to be unreliable for monitoring rejection.</a:t>
                      </a:r>
                      <a:endParaRPr lang="en-IN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76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59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1860055-F4AC-4E06-C461-C2937C276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103283"/>
            <a:ext cx="113880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robust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accurately classify multiple skin diseases from clinical images.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secure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seamless image submission and rapid analysis.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(XAI)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visual insights into diagnostic decisions and build clinical trust.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the model's performance against benchmark datasets using key metrics like accuracy and precision.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Special focus on building a model suitable specifically for Indian skin tone.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B6C0-E670-6DE3-A9CA-574E6324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545308-A81D-31EF-17A2-A02A1A75E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Melanocytic Nevi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(NV)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Benign Keratosis-like Lesions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(BKL)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Dermatofibroma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(DF)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Vascular Lesions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(VASC)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Actinic Keratoses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(AKIEC)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Basal-Cell Carcinoma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(BCC)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Melanoma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07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2816-3A57-1B16-C0D1-067D0FC0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/>
                </a:solidFill>
              </a:rPr>
              <a:t>Existing Methods and Drawbacks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207D47C-08D3-7834-078E-9FE67B0C7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2620" y="1742988"/>
            <a:ext cx="586891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In-person visual examination by a general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practitioner or a dermatologist.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specialized tools like a dermatoscope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magnified inspection.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Reliance on clinician's personal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pattern recognition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Invasive skin biopsy and subsequent histopathological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for definitive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Consultation of medical textbooks and static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databases by non-specialists.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5EBC87CD-9381-3233-D672-678C3BF4B23D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6096000" y="1742988"/>
            <a:ext cx="595868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 to specialists and long patient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wait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of misdiagnosis due to subjective,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experience-dependent evaluations.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diagnostic process, with biopsy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causing critical treatment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Procedures like biopsies are invasive, costly,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cause scarring.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scalable for rapid, large-scale population screening.</a:t>
            </a:r>
          </a:p>
        </p:txBody>
      </p:sp>
    </p:spTree>
    <p:extLst>
      <p:ext uri="{BB962C8B-B14F-4D97-AF65-F5344CB8AC3E}">
        <p14:creationId xmlns:p14="http://schemas.microsoft.com/office/powerpoint/2010/main" val="93579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5C4F-0570-ABDE-969E-B3B77E01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Methods and Feasible Study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569A08F-0BE5-5760-6B02-0C3DB2E51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96258" y="852747"/>
            <a:ext cx="7369325" cy="5404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AI-Powered Diagnostic Tool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A digital platform that utilizes a deep learning model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analyze and classify skin lesion images.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User-Friendly Clinical Interface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A secure web or mobile application for seamless 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image submission and review of diagnostic results by healthcare professionals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Explainable AI (XAI) for Transparency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Integration of visualization tools to provide 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clear insights into the AI's diagnostic reasoning, enhancing clinical trust.</a:t>
            </a:r>
          </a:p>
          <a:p>
            <a:pPr marL="7620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Feasible Study</a:t>
            </a:r>
          </a:p>
          <a:p>
            <a:pPr marL="7620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1.Technology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Utilizes established and widely available technologies like Python, deep learning 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frameworks (TensorFlow/PyTorch), and cloud services.</a:t>
            </a:r>
          </a:p>
          <a:p>
            <a:pPr marL="7620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2.Cost Effectiveness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Leverages open-source deep learning libraries and scalable cloud-based solutions to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minimize development and infrastructure costs.</a:t>
            </a:r>
          </a:p>
          <a:p>
            <a:pPr marL="7620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3.Resources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Requires minimal human resources for operation after initial setup;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the automated analysis can be maintained by a small technical team.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Highly scalable to accommodate a growing number of users and diagnostic</a:t>
            </a:r>
          </a:p>
          <a:p>
            <a:pPr marL="7620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requests using modern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976233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2277-36F6-5073-9DBC-9A69E27E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4D9CC-DC49-1B30-2363-946559A1A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D493FC-A646-3A7B-6A11-83215147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3" y="956734"/>
            <a:ext cx="5063068" cy="506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1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246B30-EC4C-4DAB-C36C-C54EE511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34" y="1024467"/>
            <a:ext cx="5113866" cy="511386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8995072-BF2A-A19D-4C51-DD908E7CD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B48516-9E8B-BB9E-7BC2-165632B59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120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B3622-8270-780F-A65D-883C9341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931" y="982132"/>
            <a:ext cx="5173135" cy="51731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66EDD3-470D-5938-E3B2-85EF159A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86EB4-D28F-240F-1222-DD73528D4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9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CFDB-0E35-E185-183B-D0292FC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8E6D6-627F-4EC0-C9EB-66F0821D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proposed system is designed with a modular architecture to ensure clarity and scalability. The key modules are: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User Interface (UI) &amp; Image Upload Module: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Functionality: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Provides a clean, user-friendly web interface for healthcare workers to securely upload an image of a patient's skin lesion.</a:t>
            </a:r>
          </a:p>
          <a:p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Image Preprocessing Module: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Functionality: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Automatically receives the uploaded image and prepares it for the AI model. This includes resizing to the required input dimensions, normalization of pixel values, and any necessary cropping or enhancement.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577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1E8E-72B6-ED72-7F40-630A351F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D91DB-E694-3813-277C-32E8231F2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D40BC-6732-002F-02E7-25E97AB5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143001"/>
            <a:ext cx="4055532" cy="405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54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848E-D4D6-660E-6A23-F88A768C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3F702-8609-CA5B-B3C1-D6887D1DE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AI Inference Engine</a:t>
            </a:r>
            <a:r>
              <a:rPr lang="en-IN" dirty="0"/>
              <a:t>:</a:t>
            </a:r>
            <a:br>
              <a:rPr lang="en-IN" dirty="0"/>
            </a:br>
            <a:r>
              <a:rPr lang="en-US" b="1" dirty="0"/>
              <a:t>Functionality</a:t>
            </a:r>
            <a:r>
              <a:rPr lang="en-US" dirty="0"/>
              <a:t>: This is the core of the system. It takes the preprocessed image and feeds it into our pre-trained, 16-class Convolutional Neural Network (CNN) to generate a prediction vector containing confidence scores for each disease.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7CBE4-6846-CAD9-1081-AF55F801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3" y="3115733"/>
            <a:ext cx="10938933" cy="30993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494F1F3-9244-203F-5362-09883A4C89AD}"/>
                  </a:ext>
                </a:extLst>
              </p14:cNvPr>
              <p14:cNvContentPartPr/>
              <p14:nvPr/>
            </p14:nvContentPartPr>
            <p14:xfrm>
              <a:off x="9922667" y="3910760"/>
              <a:ext cx="178200" cy="10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494F1F3-9244-203F-5362-09883A4C89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60027" y="3847760"/>
                <a:ext cx="3038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E117FD-45A5-B902-2345-D7B8A780761E}"/>
                  </a:ext>
                </a:extLst>
              </p14:cNvPr>
              <p14:cNvContentPartPr/>
              <p14:nvPr/>
            </p14:nvContentPartPr>
            <p14:xfrm>
              <a:off x="10159907" y="4114520"/>
              <a:ext cx="1278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E117FD-45A5-B902-2345-D7B8A78076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7267" y="4051520"/>
                <a:ext cx="2534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82891A-7DBD-0C7A-D5EE-D8D83507A304}"/>
                  </a:ext>
                </a:extLst>
              </p14:cNvPr>
              <p14:cNvContentPartPr/>
              <p14:nvPr/>
            </p14:nvContentPartPr>
            <p14:xfrm>
              <a:off x="10346027" y="4308560"/>
              <a:ext cx="161640" cy="9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82891A-7DBD-0C7A-D5EE-D8D83507A3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83027" y="4245920"/>
                <a:ext cx="2872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CBED79-553F-7886-B2C2-0AB6D8978452}"/>
                  </a:ext>
                </a:extLst>
              </p14:cNvPr>
              <p14:cNvContentPartPr/>
              <p14:nvPr/>
            </p14:nvContentPartPr>
            <p14:xfrm>
              <a:off x="10540787" y="4486400"/>
              <a:ext cx="297000" cy="27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CBED79-553F-7886-B2C2-0AB6D89784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77787" y="4423400"/>
                <a:ext cx="4226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333ED7-7C3D-2E2C-DDBB-3B45D6C14A74}"/>
                  </a:ext>
                </a:extLst>
              </p14:cNvPr>
              <p14:cNvContentPartPr/>
              <p14:nvPr/>
            </p14:nvContentPartPr>
            <p14:xfrm>
              <a:off x="10752467" y="4655960"/>
              <a:ext cx="271800" cy="43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333ED7-7C3D-2E2C-DDBB-3B45D6C14A7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89467" y="4593320"/>
                <a:ext cx="3974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7A3C77-B503-1117-855A-50AB75D0462C}"/>
                  </a:ext>
                </a:extLst>
              </p14:cNvPr>
              <p14:cNvContentPartPr/>
              <p14:nvPr/>
            </p14:nvContentPartPr>
            <p14:xfrm>
              <a:off x="10713947" y="4672880"/>
              <a:ext cx="64440" cy="76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7A3C77-B503-1117-855A-50AB75D046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50947" y="4609880"/>
                <a:ext cx="1900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DC80523-26D4-8FFC-1711-1A2F1A00DB2A}"/>
                  </a:ext>
                </a:extLst>
              </p14:cNvPr>
              <p14:cNvContentPartPr/>
              <p14:nvPr/>
            </p14:nvContentPartPr>
            <p14:xfrm>
              <a:off x="10938587" y="4678640"/>
              <a:ext cx="53640" cy="12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DC80523-26D4-8FFC-1711-1A2F1A00DB2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75947" y="4616000"/>
                <a:ext cx="179280" cy="1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9650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02CE-8D64-813B-F074-17D032C5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B11B0-7D08-15EB-CA0E-542940B03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b="1" dirty="0"/>
              <a:t>Backend: Model Training Pipeline</a:t>
            </a:r>
          </a:p>
          <a:p>
            <a:r>
              <a:rPr lang="en-US" dirty="0"/>
              <a:t>Data Loading &amp; Preparation</a:t>
            </a:r>
          </a:p>
          <a:p>
            <a:r>
              <a:rPr lang="en-US" dirty="0"/>
              <a:t>Feature Extraction (ResNet50)</a:t>
            </a:r>
          </a:p>
          <a:p>
            <a:r>
              <a:rPr lang="en-US" dirty="0"/>
              <a:t>Data Balancing (SMOTE)</a:t>
            </a:r>
          </a:p>
          <a:p>
            <a:r>
              <a:rPr lang="en-US" dirty="0"/>
              <a:t>Model Training &amp; Evaluation (Random Forest)</a:t>
            </a:r>
          </a:p>
          <a:p>
            <a:r>
              <a:rPr lang="en-US" dirty="0"/>
              <a:t>Model Persistence (Saving Model to Drive)</a:t>
            </a:r>
          </a:p>
          <a:p>
            <a:pPr marL="76200" indent="0">
              <a:buNone/>
            </a:pPr>
            <a:br>
              <a:rPr lang="en-US" dirty="0"/>
            </a:br>
            <a:r>
              <a:rPr lang="en-US" b="1" dirty="0"/>
              <a:t>Frontend: Streamlit Application</a:t>
            </a:r>
          </a:p>
          <a:p>
            <a:r>
              <a:rPr lang="en-US" dirty="0"/>
              <a:t>Application Setup &amp; Initialization</a:t>
            </a:r>
          </a:p>
          <a:p>
            <a:r>
              <a:rPr lang="en-US" dirty="0"/>
              <a:t>Model Loading</a:t>
            </a:r>
          </a:p>
          <a:p>
            <a:r>
              <a:rPr lang="en-US" dirty="0"/>
              <a:t>UI &amp; Page Navigation</a:t>
            </a:r>
          </a:p>
          <a:p>
            <a:r>
              <a:rPr lang="en-US" dirty="0"/>
              <a:t>Inference Engine (Real-time Prediction)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5FCA4D-BACE-FAC9-5F3E-B4F09BF8C037}"/>
                  </a:ext>
                </a:extLst>
              </p14:cNvPr>
              <p14:cNvContentPartPr/>
              <p14:nvPr/>
            </p14:nvContentPartPr>
            <p14:xfrm>
              <a:off x="2717627" y="49922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5FCA4D-BACE-FAC9-5F3E-B4F09BF8C0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4627" y="436587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165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6A9A-73A3-BBBF-6A92-DA777232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Algorithm-Flow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9651F-CA52-4043-CBAA-B9AD1E3ED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diagram of a procedure&#10;&#10;AI-generated content may be incorrect.">
            <a:extLst>
              <a:ext uri="{FF2B5EF4-FFF2-40B4-BE49-F238E27FC236}">
                <a16:creationId xmlns:a16="http://schemas.microsoft.com/office/drawing/2014/main" id="{6C547CD0-3192-B8C6-BF77-88B24742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32" y="1143002"/>
            <a:ext cx="806245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9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9165-63C0-B15C-4D21-A00BBD4A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 Code Details: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4B73FF-D822-E726-6B9E-91BCDB08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32387"/>
            <a:ext cx="5384700" cy="5093916"/>
          </a:xfrm>
        </p:spPr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IN" sz="1050" b="1" dirty="0"/>
              <a:t>Overall Architecture</a:t>
            </a:r>
          </a:p>
          <a:p>
            <a:r>
              <a:rPr lang="en-IN" sz="1050" b="1" dirty="0"/>
              <a:t>Ensemble Model:</a:t>
            </a:r>
            <a:r>
              <a:rPr lang="en-IN" sz="1050" dirty="0"/>
              <a:t> The code implements a two-stage ensemble model called </a:t>
            </a:r>
            <a:r>
              <a:rPr lang="en-IN" sz="1050" b="1" dirty="0"/>
              <a:t>RF-DCNN</a:t>
            </a:r>
            <a:r>
              <a:rPr lang="en-IN" sz="1050" dirty="0"/>
              <a:t>, not a single end-to-end network.</a:t>
            </a:r>
          </a:p>
          <a:p>
            <a:r>
              <a:rPr lang="en-IN" sz="1050" b="1" dirty="0"/>
              <a:t>Core Components:</a:t>
            </a:r>
            <a:r>
              <a:rPr lang="en-IN" sz="1050" dirty="0"/>
              <a:t> It combines a Deep Convolutional Neural Network (</a:t>
            </a:r>
            <a:r>
              <a:rPr lang="en-IN" sz="1050" b="1" dirty="0"/>
              <a:t>DCNN</a:t>
            </a:r>
            <a:r>
              <a:rPr lang="en-IN" sz="1050" dirty="0"/>
              <a:t>) for feature extraction with a Random Forest (</a:t>
            </a:r>
            <a:r>
              <a:rPr lang="en-IN" sz="1050" b="1" dirty="0"/>
              <a:t>RF</a:t>
            </a:r>
            <a:r>
              <a:rPr lang="en-IN" sz="1050" dirty="0"/>
              <a:t>) for classification.</a:t>
            </a:r>
          </a:p>
          <a:p>
            <a:pPr marL="50800" indent="0">
              <a:buNone/>
            </a:pPr>
            <a:br>
              <a:rPr lang="en-IN" sz="1050" dirty="0"/>
            </a:br>
            <a:endParaRPr lang="en-IN" sz="1050" dirty="0"/>
          </a:p>
          <a:p>
            <a:pPr marL="50800" indent="0">
              <a:buNone/>
            </a:pPr>
            <a:r>
              <a:rPr lang="en-IN" sz="1050" b="1" dirty="0"/>
              <a:t>Key Libraries &amp; Environment</a:t>
            </a:r>
          </a:p>
          <a:p>
            <a:r>
              <a:rPr lang="en-IN" sz="1050" b="1" dirty="0"/>
              <a:t>Environment:</a:t>
            </a:r>
            <a:r>
              <a:rPr lang="en-IN" sz="1050" dirty="0"/>
              <a:t> Designed to run in </a:t>
            </a:r>
            <a:r>
              <a:rPr lang="en-IN" sz="1050" b="1" dirty="0"/>
              <a:t>Google </a:t>
            </a:r>
            <a:r>
              <a:rPr lang="en-IN" sz="1050" b="1" dirty="0" err="1"/>
              <a:t>Colab</a:t>
            </a:r>
            <a:r>
              <a:rPr lang="en-IN" sz="1050" dirty="0"/>
              <a:t>.</a:t>
            </a:r>
          </a:p>
          <a:p>
            <a:r>
              <a:rPr lang="en-IN" sz="1050" b="1" dirty="0"/>
              <a:t>Deep Learning:</a:t>
            </a:r>
            <a:r>
              <a:rPr lang="en-IN" sz="1050" dirty="0"/>
              <a:t> Uses </a:t>
            </a:r>
            <a:r>
              <a:rPr lang="en-IN" sz="1050" b="1" dirty="0"/>
              <a:t>TensorFlow</a:t>
            </a:r>
            <a:r>
              <a:rPr lang="en-IN" sz="1050" dirty="0"/>
              <a:t> and </a:t>
            </a:r>
            <a:r>
              <a:rPr lang="en-IN" sz="1050" b="1" dirty="0" err="1"/>
              <a:t>Keras</a:t>
            </a:r>
            <a:r>
              <a:rPr lang="en-IN" sz="1050" dirty="0"/>
              <a:t> to load the pre-trained ResNet50 model.</a:t>
            </a:r>
          </a:p>
          <a:p>
            <a:r>
              <a:rPr lang="en-IN" sz="1050" b="1" dirty="0"/>
              <a:t>Machine Learning:</a:t>
            </a:r>
            <a:r>
              <a:rPr lang="en-IN" sz="1050" dirty="0"/>
              <a:t> Employs </a:t>
            </a:r>
            <a:r>
              <a:rPr lang="en-IN" sz="1050" b="1" dirty="0"/>
              <a:t>Scikit-learn</a:t>
            </a:r>
            <a:r>
              <a:rPr lang="en-IN" sz="1050" dirty="0"/>
              <a:t> for the </a:t>
            </a:r>
            <a:r>
              <a:rPr lang="en-IN" sz="1100" dirty="0" err="1"/>
              <a:t>RandomForestClassifier</a:t>
            </a:r>
            <a:r>
              <a:rPr lang="en-IN" sz="1050" dirty="0"/>
              <a:t> and for calculating evaluation metrics.</a:t>
            </a:r>
          </a:p>
          <a:p>
            <a:r>
              <a:rPr lang="en-IN" sz="1050" b="1" dirty="0"/>
              <a:t>Data Manipulation:</a:t>
            </a:r>
            <a:r>
              <a:rPr lang="en-IN" sz="1050" dirty="0"/>
              <a:t> Leverages </a:t>
            </a:r>
            <a:r>
              <a:rPr lang="en-IN" sz="1050" b="1" dirty="0"/>
              <a:t>Pandas</a:t>
            </a:r>
            <a:r>
              <a:rPr lang="en-IN" sz="1050" dirty="0"/>
              <a:t> to manage the dataset's metadata and file paths.</a:t>
            </a:r>
          </a:p>
          <a:p>
            <a:pPr marL="50800" indent="0">
              <a:buNone/>
            </a:pPr>
            <a:br>
              <a:rPr lang="en-IN" sz="1050" dirty="0"/>
            </a:br>
            <a:endParaRPr lang="en-IN" sz="1050" dirty="0"/>
          </a:p>
          <a:p>
            <a:pPr marL="50800" indent="0">
              <a:buNone/>
            </a:pPr>
            <a:r>
              <a:rPr lang="en-IN" sz="1050" b="1" dirty="0"/>
              <a:t>Data Handling &amp; Preprocessing</a:t>
            </a:r>
          </a:p>
          <a:p>
            <a:r>
              <a:rPr lang="en-IN" sz="1050" b="1" dirty="0"/>
              <a:t>Dataset:</a:t>
            </a:r>
            <a:r>
              <a:rPr lang="en-IN" sz="1050" dirty="0"/>
              <a:t> Utilizes the </a:t>
            </a:r>
            <a:r>
              <a:rPr lang="en-IN" sz="1050" b="1" dirty="0"/>
              <a:t>HAM10000</a:t>
            </a:r>
            <a:r>
              <a:rPr lang="en-IN" sz="1050" dirty="0"/>
              <a:t> dataset, which consists of a metadata CSV file and two image folders.</a:t>
            </a:r>
          </a:p>
          <a:p>
            <a:r>
              <a:rPr lang="en-IN" sz="1050" b="1" dirty="0"/>
              <a:t>Image Resizing:</a:t>
            </a:r>
            <a:r>
              <a:rPr lang="en-IN" sz="1050" dirty="0"/>
              <a:t> All skin lesion images are resized to a standard </a:t>
            </a:r>
            <a:r>
              <a:rPr lang="en-IN" sz="1100" dirty="0"/>
              <a:t>224x224</a:t>
            </a:r>
            <a:r>
              <a:rPr lang="en-IN" sz="1050" dirty="0"/>
              <a:t> pixel resolution before processing.</a:t>
            </a:r>
          </a:p>
          <a:p>
            <a:r>
              <a:rPr lang="en-IN" sz="1050" b="1" dirty="0"/>
              <a:t>Normalization:</a:t>
            </a:r>
            <a:r>
              <a:rPr lang="en-IN" sz="1050" dirty="0"/>
              <a:t> A specific </a:t>
            </a:r>
            <a:r>
              <a:rPr lang="en-IN" sz="1100" dirty="0"/>
              <a:t>preprocess input </a:t>
            </a:r>
            <a:r>
              <a:rPr lang="en-IN" sz="1050" dirty="0"/>
              <a:t>function for ResNet50 is used to normalize pixel values.</a:t>
            </a:r>
          </a:p>
          <a:p>
            <a:endParaRPr lang="en-IN" sz="105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ACFEBF5-ADEC-1A5F-9D04-8B0C0F2388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97600" y="1032387"/>
            <a:ext cx="5384700" cy="5093916"/>
          </a:xfrm>
        </p:spPr>
        <p:txBody>
          <a:bodyPr>
            <a:normAutofit fontScale="40000" lnSpcReduction="20000"/>
          </a:bodyPr>
          <a:lstStyle/>
          <a:p>
            <a:pPr marL="50800" indent="0">
              <a:buNone/>
            </a:pPr>
            <a:r>
              <a:rPr lang="en-US" b="1" dirty="0"/>
              <a:t>Memory Management</a:t>
            </a:r>
          </a:p>
          <a:p>
            <a:r>
              <a:rPr lang="en-US" b="1" dirty="0"/>
              <a:t>Batch Processing:</a:t>
            </a:r>
            <a:r>
              <a:rPr lang="en-US" dirty="0"/>
              <a:t> To prevent RAM crashes in </a:t>
            </a:r>
            <a:r>
              <a:rPr lang="en-US" dirty="0" err="1"/>
              <a:t>Colab</a:t>
            </a:r>
            <a:r>
              <a:rPr lang="en-US" dirty="0"/>
              <a:t>, the code </a:t>
            </a:r>
            <a:r>
              <a:rPr lang="en-US" b="1" dirty="0"/>
              <a:t>does not load all 10,000+ images at once</a:t>
            </a:r>
            <a:r>
              <a:rPr lang="en-US" dirty="0"/>
              <a:t>.</a:t>
            </a:r>
          </a:p>
          <a:p>
            <a:r>
              <a:rPr lang="en-US" b="1" dirty="0"/>
              <a:t>Efficient Workflow:</a:t>
            </a:r>
            <a:r>
              <a:rPr lang="en-US" dirty="0"/>
              <a:t> It processes images in small, manageable </a:t>
            </a:r>
            <a:r>
              <a:rPr lang="en-US" b="1" dirty="0"/>
              <a:t>batches</a:t>
            </a:r>
            <a:r>
              <a:rPr lang="en-US" dirty="0"/>
              <a:t> (e.g., 64 at a time) only during the feature extraction step, ensuring low memory consumption.</a:t>
            </a:r>
          </a:p>
          <a:p>
            <a:pPr marL="50800" indent="0">
              <a:buNone/>
            </a:pPr>
            <a:br>
              <a:rPr lang="en-US" dirty="0"/>
            </a:br>
            <a:endParaRPr lang="en-US" dirty="0"/>
          </a:p>
          <a:p>
            <a:pPr marL="50800" indent="0">
              <a:buNone/>
            </a:pPr>
            <a:r>
              <a:rPr lang="en-US" b="1" dirty="0"/>
              <a:t>Model Components</a:t>
            </a:r>
          </a:p>
          <a:p>
            <a:r>
              <a:rPr lang="en-US" b="1" dirty="0"/>
              <a:t>Feature Extractor:</a:t>
            </a:r>
            <a:r>
              <a:rPr lang="en-US" dirty="0"/>
              <a:t> A pre-trained </a:t>
            </a:r>
            <a:r>
              <a:rPr lang="en-US" b="1" dirty="0"/>
              <a:t>ResNet50</a:t>
            </a:r>
            <a:r>
              <a:rPr lang="en-US" dirty="0"/>
              <a:t> model acts as a powerful feature extractor. Its final classification layer is removed, and its weights are frozen.</a:t>
            </a:r>
          </a:p>
          <a:p>
            <a:r>
              <a:rPr lang="en-US" b="1" dirty="0"/>
              <a:t>Classifier:</a:t>
            </a:r>
            <a:r>
              <a:rPr lang="en-US" dirty="0"/>
              <a:t> A </a:t>
            </a:r>
            <a:r>
              <a:rPr lang="en-US" b="1" dirty="0"/>
              <a:t>Random Forest Classifier</a:t>
            </a:r>
            <a:r>
              <a:rPr lang="en-US" dirty="0"/>
              <a:t> is trained on the high-level features generated by ResNet50 to make the final prediction about the skin disease class.</a:t>
            </a:r>
          </a:p>
          <a:p>
            <a:pPr marL="50800" indent="0">
              <a:buNone/>
            </a:pPr>
            <a:br>
              <a:rPr lang="en-US" dirty="0"/>
            </a:br>
            <a:endParaRPr lang="en-US" dirty="0"/>
          </a:p>
          <a:p>
            <a:pPr marL="50800" indent="0">
              <a:buNone/>
            </a:pPr>
            <a:r>
              <a:rPr lang="en-US" b="1" dirty="0"/>
              <a:t>Evaluation</a:t>
            </a:r>
          </a:p>
          <a:p>
            <a:r>
              <a:rPr lang="en-US" b="1" dirty="0"/>
              <a:t>Comprehensive Metrics:</a:t>
            </a:r>
            <a:r>
              <a:rPr lang="en-US" dirty="0"/>
              <a:t> The model's performance is evaluated using:</a:t>
            </a:r>
          </a:p>
          <a:p>
            <a:pPr lvl="1"/>
            <a:r>
              <a:rPr lang="en-US" b="1" dirty="0"/>
              <a:t>Accuracy:</a:t>
            </a:r>
            <a:r>
              <a:rPr lang="en-US" dirty="0"/>
              <a:t> The overall percentage of correct predictions.</a:t>
            </a:r>
          </a:p>
          <a:p>
            <a:pPr lvl="1"/>
            <a:r>
              <a:rPr lang="en-US" b="1" dirty="0"/>
              <a:t>Classification Report:</a:t>
            </a:r>
            <a:r>
              <a:rPr lang="en-US" dirty="0"/>
              <a:t> Detailed </a:t>
            </a:r>
            <a:r>
              <a:rPr lang="en-US" b="1" dirty="0"/>
              <a:t>Precision</a:t>
            </a:r>
            <a:r>
              <a:rPr lang="en-US" dirty="0"/>
              <a:t>, </a:t>
            </a:r>
            <a:r>
              <a:rPr lang="en-US" b="1" dirty="0"/>
              <a:t>Recall</a:t>
            </a:r>
            <a:r>
              <a:rPr lang="en-US" dirty="0"/>
              <a:t>, and </a:t>
            </a:r>
            <a:r>
              <a:rPr lang="en-US" b="1" dirty="0"/>
              <a:t>F1-Score</a:t>
            </a:r>
            <a:r>
              <a:rPr lang="en-US" dirty="0"/>
              <a:t> for each disease class.</a:t>
            </a:r>
          </a:p>
          <a:p>
            <a:pPr lvl="1"/>
            <a:r>
              <a:rPr lang="en-US" b="1" dirty="0"/>
              <a:t>Confusion Matrix:</a:t>
            </a:r>
            <a:r>
              <a:rPr lang="en-US" dirty="0"/>
              <a:t> A visual plot to analyze correct vs. incorrect predictions for each category.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285175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30903" y="16827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Link: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IN" dirty="0">
                <a:hlinkClick r:id="rId3"/>
              </a:rPr>
              <a:t>lakshmipriyanarayan/CSE_4_PSCS_49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Software and Hardware Requirements: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E330314-9F96-DFF3-0B38-B156BDF0864D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859368" y="1221809"/>
            <a:ext cx="47788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REQUIREMENTS: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PC/Laptop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CPU: Intel i5 / AMD Ryzen 5+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 16 GB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GPU: NVIDIA (6GB+ VRAM)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 512 GB+ SSD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Smartphone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Alternative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GPU)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E044881-3F3F-65B0-8B6A-56E344504C21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6193368" y="1221809"/>
            <a:ext cx="357020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REQUIREMENTS: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/ macOS / Linux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Tools: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&amp;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Stack (Python):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Lite (TFLite)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OpenCV, Pillow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8781A-4182-FE5A-2DA0-0BF198F29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BB39A80A-9BD2-641F-A956-06E958BC8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133" y="1188715"/>
            <a:ext cx="915773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E151F-C20E-9656-827D-A347947A1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223" y="1367571"/>
            <a:ext cx="1133515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M.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Heenaye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-Mamode Khan, N. G. Sahib-Kaudeer, M.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Dayalen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Mahomedaly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G. R. Sinha, K. K.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Nagwanshi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A. Taylor, "Multi-Class Skin Problem Classification Using Deep Generative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Adversarial Network (DGAN),"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Intelligence and Neuroscience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2022, Article ID 1797471, 2022.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10.1155/2022/1797471.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A.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Laouarem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C. Kara-Mohamed, E.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Bourennane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A. Hamdi-Cherif, "JILDYA-Net: An Efficient Lightweight Multi-Class Classification Architecture for Skin Lesions,"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Imaging Systems and Technology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35, p. e70102, 2025.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10.1002/ima.70102.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 K. Rezaee and H. G. Zadeh, "Self-attention transformer unit-based deep learning framework for skin lesions classification in smart healthcare,"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Applied Sciences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6, no. 3, 2024.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10.1007/s42452-024-05655-1.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[4] N. Y. Vidal, K. Sidey, Y.-H. Kim, and D. E. Vidal, "Artificial intelligence in medicine - dermatology compared to other medical specialties in FDA-cleared software as medical device,"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Dermatology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Journal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29, no. 2, 2023.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10.5070/D329260766.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[5] S. M. S. I.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Badhon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 A. Khushbu, N. C. Saha, et al., "Explainable AI for Skin Disease Classification Using Grad-CAM and Transfer Learning to Identify Contours,"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Preprints.org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10.20944/preprints202407.2556.v1.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[6] H. Wang, X. Wang, Y. Wang, et al., "Quantization-Aware Neuromorphic Architecture for Efficient Skin Disease Classification on Resource-Constrained Devices,"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arXiv:2507.15958v1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[7] A. Kalaivani and S. Karpagavalli, "Detection and classification of skin diseases with ensembles of deep learning networks in medical imaging,"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Health Sciences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vol. 6, no. S1, pp. 13624-13637, 2022.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10.53730/ijhs.v6nS1.8402.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[8] S.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Haggenmüller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E. Krieghoff-Henning, T. Jutzi, et al., "Digital Natives' Preferences on Mobile Artificial Intelligence Apps for Skin Cancer Diagnostics: Survey Study,"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JMIR mHealth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uHealth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9, no. 8, p. e22909, 2021.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10.2196/22909.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[9] T. Li, B. Li, Y. Jia, et al., "Application of multimodal deep learning in the auxiliary diagnosis and treatment of dermatological diseases,"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Medicine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5, pp. 132-140, 2025.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10.1016/j.imed.2024.10.002.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[10] M.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Kauke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-Navarro, L.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Huelsboemer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F. J.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Klimitz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 al., "A comparative analysis of lesional skin, sentinel flap, and mucosal biopsies in assessing acute face transplant rejection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,"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Frontiers in Immunology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16, p. 1562024, 2025.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10.3389/fimmu.2025.1562024.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3019</Words>
  <Application>Microsoft Office PowerPoint</Application>
  <PresentationFormat>Widescreen</PresentationFormat>
  <Paragraphs>303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Cambria</vt:lpstr>
      <vt:lpstr>Times New Roman</vt:lpstr>
      <vt:lpstr>Verdana</vt:lpstr>
      <vt:lpstr>Bioinformatics</vt:lpstr>
      <vt:lpstr>Al-BASED TOOL FOR PRELIMINARY DIAGNOSIS OF DERMATOLOGICAL MANIFESTATIONS</vt:lpstr>
      <vt:lpstr>Contents</vt:lpstr>
      <vt:lpstr>Abstract</vt:lpstr>
      <vt:lpstr>Literature Survey</vt:lpstr>
      <vt:lpstr>Literature Survey</vt:lpstr>
      <vt:lpstr>Objective</vt:lpstr>
      <vt:lpstr>Classes</vt:lpstr>
      <vt:lpstr>Existing Methods and Drawbacks</vt:lpstr>
      <vt:lpstr>Proposed Methods and Feasible Study</vt:lpstr>
      <vt:lpstr>Architecture Diagram</vt:lpstr>
      <vt:lpstr>Architecture Diagram</vt:lpstr>
      <vt:lpstr>Architecture Diagram</vt:lpstr>
      <vt:lpstr>Modules</vt:lpstr>
      <vt:lpstr>Modules</vt:lpstr>
      <vt:lpstr>Modules</vt:lpstr>
      <vt:lpstr>Modules</vt:lpstr>
      <vt:lpstr>Algorithm-Flow Chart</vt:lpstr>
      <vt:lpstr>Source Code Details: </vt:lpstr>
      <vt:lpstr>Github Link</vt:lpstr>
      <vt:lpstr>Software and Hardware Requirements: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Lakshmipriya Narayan</cp:lastModifiedBy>
  <cp:revision>54</cp:revision>
  <dcterms:modified xsi:type="dcterms:W3CDTF">2025-09-26T09:25:02Z</dcterms:modified>
</cp:coreProperties>
</file>