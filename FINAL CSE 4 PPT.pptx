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283" r:id="rId3"/>
    <p:sldId id="293" r:id="rId4"/>
    <p:sldId id="287" r:id="rId5"/>
    <p:sldId id="288" r:id="rId6"/>
    <p:sldId id="289" r:id="rId7"/>
    <p:sldId id="274" r:id="rId8"/>
    <p:sldId id="292" r:id="rId9"/>
    <p:sldId id="275" r:id="rId10"/>
    <p:sldId id="277" r:id="rId11"/>
    <p:sldId id="279" r:id="rId12"/>
    <p:sldId id="281" r:id="rId13"/>
    <p:sldId id="280" r:id="rId14"/>
    <p:sldId id="284" r:id="rId15"/>
    <p:sldId id="285" r:id="rId16"/>
    <p:sldId id="286" r:id="rId17"/>
    <p:sldId id="290" r:id="rId18"/>
    <p:sldId id="268" r:id="rId19"/>
    <p:sldId id="272" r:id="rId20"/>
    <p:sldId id="270" r:id="rId21"/>
    <p:sldId id="265" r:id="rId22"/>
    <p:sldId id="26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36.268"/>
    </inkml:context>
    <inkml:brush xml:id="br0">
      <inkml:brushProperty name="width" value="0.35" units="cm"/>
      <inkml:brushProperty name="height" value="0.35" units="cm"/>
      <inkml:brushProperty name="color" value="#FFFFFF"/>
    </inkml:brush>
  </inkml:definitions>
  <inkml:trace contextRef="#ctx0" brushRef="#br0">1 2 24575,'91'-2'0,"101"5"0,-129 8 0,-46-7 0,0 0 0,27 1 0,26-5-1365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39.465"/>
    </inkml:context>
    <inkml:brush xml:id="br0">
      <inkml:brushProperty name="width" value="0.35" units="cm"/>
      <inkml:brushProperty name="height" value="0.35" units="cm"/>
      <inkml:brushProperty name="color" value="#FFFFFF"/>
    </inkml:brush>
  </inkml:definitions>
  <inkml:trace contextRef="#ctx0" brushRef="#br0">1 0 24575,'4'0'0,"5"0"0,5 0 0,4 0 0,4 0 0,1 0 0,1 0 0,1 0 0,-1 0 0,1 0 0,-1 0 0,0 0 0,0 0 0,-1 0 0,1 0 0,-1 0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42.354"/>
    </inkml:context>
    <inkml:brush xml:id="br0">
      <inkml:brushProperty name="width" value="0.35" units="cm"/>
      <inkml:brushProperty name="height" value="0.35" units="cm"/>
      <inkml:brushProperty name="color" value="#FFFFFF"/>
    </inkml:brush>
  </inkml:definitions>
  <inkml:trace contextRef="#ctx0" brushRef="#br0">0 26 24575,'34'0'0,"-1"1"0,1-2 0,-1-1 0,56-10 0,-59 7-32,0 1 0,1 2 1,56 2-1,-40 1-1206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45.039"/>
    </inkml:context>
    <inkml:brush xml:id="br0">
      <inkml:brushProperty name="width" value="0.35" units="cm"/>
      <inkml:brushProperty name="height" value="0.35" units="cm"/>
      <inkml:brushProperty name="color" value="#FFFFFF"/>
    </inkml:brush>
  </inkml:definitions>
  <inkml:trace contextRef="#ctx0" brushRef="#br0">0 73 24575,'77'1'0,"82"-3"0,-148 1 0,-1-2 0,1 1 0,-1-1 0,0-1 0,12-5 0,-12 4 0,1 1 0,-1 0 0,1 1 0,15-3 0,49 3 0,-58 4 0,-1-1 0,1-1 0,-1-1 0,22-4 0,-6 0-31,1 1 0,0 1 0,-1 2 0,51 4 0,-29-1-1179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48.942"/>
    </inkml:context>
    <inkml:brush xml:id="br0">
      <inkml:brushProperty name="width" value="0.35" units="cm"/>
      <inkml:brushProperty name="height" value="0.35" units="cm"/>
      <inkml:brushProperty name="color" value="#FFFFFF"/>
    </inkml:brush>
  </inkml:definitions>
  <inkml:trace contextRef="#ctx0" brushRef="#br0">0 120 24575,'0'-1'0,"1"0"0,-1 0 0,0 0 0,1 0 0,-1 1 0,1-1 0,-1 0 0,1 0 0,-1 1 0,1-1 0,-1 0 0,1 1 0,0-1 0,-1 0 0,1 1 0,0-1 0,0 1 0,-1-1 0,1 1 0,0 0 0,0-1 0,0 1 0,0 0 0,1-1 0,30-7 0,-17 5 0,4-2 0,0 0 0,1 2 0,-1 0 0,1 1 0,20 1 0,18-1 0,-42-1 0,0 0 0,0-1 0,0-1 0,-1 0 0,22-11 0,-23 10 0,0 0 0,1 1 0,-1 0 0,1 1 0,0 0 0,18-1 0,136 5 232,-79 1-1829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53.842"/>
    </inkml:context>
    <inkml:brush xml:id="br0">
      <inkml:brushProperty name="width" value="0.35" units="cm"/>
      <inkml:brushProperty name="height" value="0.35" units="cm"/>
      <inkml:brushProperty name="color" value="#FFFFFF"/>
    </inkml:brush>
  </inkml:definitions>
  <inkml:trace contextRef="#ctx0" brushRef="#br0">178 96 24575,'-4'-1'0,"0"0"0,0 0 0,-1-1 0,1 0 0,0 0 0,1 0 0,-1 0 0,-5-4 0,-10-5 0,-7-1 0,2 0 0,-44-30 0,84 106 0,-3-18 220,-10-34-418,0-1 0,1 1 0,1 0 0,-1-1-1,2 0 1,-1 0 0,9 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3:56.987"/>
    </inkml:context>
    <inkml:brush xml:id="br0">
      <inkml:brushProperty name="width" value="0.35" units="cm"/>
      <inkml:brushProperty name="height" value="0.35" units="cm"/>
      <inkml:brushProperty name="color" value="#FFFFFF"/>
    </inkml:brush>
  </inkml:definitions>
  <inkml:trace contextRef="#ctx0" brushRef="#br0">1 33 24575,'4'0'0,"5"0"0,6 0 0,3 0 0,0-4 0,0-1 0,1 0 0,1 1 0,-2-3 0,-9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9T07:14:16.34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4.png"/><Relationship Id="rId2" Type="http://schemas.openxmlformats.org/officeDocument/2006/relationships/image" Target="../media/image6.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lakshmipriyanarayan/CSE_4_PSCS_49"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Cambria" panose="02040503050406030204" pitchFamily="18" charset="0"/>
                <a:ea typeface="Cambria" panose="02040503050406030204" pitchFamily="18" charset="0"/>
              </a:rPr>
              <a:t>Al-BASED TOOL FOR PRELIMINARY DIAGNOSIS OF DERMATOLOGICAL MANIFESTATIONS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IN" sz="1800" dirty="0"/>
              <a:t>CSE_4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002060"/>
                </a:solidFill>
                <a:latin typeface="Cambria" panose="02040503050406030204" pitchFamily="18" charset="0"/>
                <a:ea typeface="Cambria" panose="02040503050406030204" pitchFamily="18" charset="0"/>
                <a:cs typeface="Verdana"/>
                <a:sym typeface="Verdana"/>
              </a:rPr>
              <a:t>Mr. </a:t>
            </a:r>
            <a:r>
              <a:rPr lang="en-IN" sz="1700" b="1" dirty="0">
                <a:solidFill>
                  <a:srgbClr val="002060"/>
                </a:solidFill>
                <a:latin typeface="Cambria" panose="02040503050406030204" pitchFamily="18" charset="0"/>
                <a:ea typeface="Cambria" panose="02040503050406030204" pitchFamily="18" charset="0"/>
              </a:rPr>
              <a:t>Jerrin Joe Francis</a:t>
            </a:r>
            <a:endParaRPr sz="1700" b="1" dirty="0">
              <a:solidFill>
                <a:srgbClr val="00206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922547854"/>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rPr>
                        <a:t>20221CSE0374</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LAKSHMI PRIYA NARAYAN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20221CSE0046</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HEMANTH K</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20221CSE0045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dirty="0">
                          <a:latin typeface="Cambria" panose="02040503050406030204" pitchFamily="18" charset="0"/>
                          <a:ea typeface="Cambria" panose="02040503050406030204" pitchFamily="18" charset="0"/>
                        </a:rPr>
                        <a:t>VANKAM VISWA SAI</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dirty="0">
                <a:solidFill>
                  <a:schemeClr val="tx1"/>
                </a:solidFill>
                <a:latin typeface="Cambria" panose="02040503050406030204" pitchFamily="18" charset="0"/>
                <a:ea typeface="Cambria" panose="02040503050406030204" pitchFamily="18" charset="0"/>
                <a:cs typeface="Arial" panose="020B0604020202020204" pitchFamily="34" charset="0"/>
                <a:sym typeface="Verdana"/>
              </a:rPr>
              <a:t>BTech-Computer Science and Engineering</a:t>
            </a: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latin typeface="Cambria" panose="02040503050406030204" pitchFamily="18" charset="0"/>
                <a:ea typeface="Cambria" panose="02040503050406030204" pitchFamily="18" charset="0"/>
              </a:rPr>
              <a:t>Dr. Asif Mohammed</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rgbClr val="002060"/>
                </a:solidFill>
                <a:latin typeface="Cambria" panose="02040503050406030204" pitchFamily="18" charset="0"/>
                <a:ea typeface="Cambria" panose="02040503050406030204" pitchFamily="18" charset="0"/>
                <a:cs typeface="Verdana"/>
                <a:sym typeface="Verdana"/>
              </a:rPr>
              <a:t>Name of the Program Project Coordinator:</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solidFill>
                  <a:schemeClr val="tx1"/>
                </a:solidFill>
                <a:latin typeface="Cambria" panose="02040503050406030204" pitchFamily="18" charset="0"/>
                <a:ea typeface="Cambria" panose="02040503050406030204" pitchFamily="18" charset="0"/>
                <a:cs typeface="Verdana"/>
                <a:sym typeface="Verdana"/>
              </a:rPr>
              <a:t>Mr. </a:t>
            </a:r>
            <a:r>
              <a:rPr lang="en-IN" sz="1800" b="1" dirty="0" err="1">
                <a:solidFill>
                  <a:schemeClr val="tx1"/>
                </a:solidFill>
                <a:latin typeface="Cambria" panose="02040503050406030204" pitchFamily="18" charset="0"/>
                <a:ea typeface="Cambria" panose="02040503050406030204" pitchFamily="18" charset="0"/>
                <a:cs typeface="Verdana"/>
                <a:sym typeface="Verdana"/>
              </a:rPr>
              <a:t>Muthuraju</a:t>
            </a:r>
            <a:r>
              <a:rPr lang="en-IN" sz="1800" b="1" dirty="0">
                <a:solidFill>
                  <a:schemeClr val="tx1"/>
                </a:solidFill>
                <a:latin typeface="Cambria" panose="02040503050406030204" pitchFamily="18" charset="0"/>
                <a:ea typeface="Cambria" panose="02040503050406030204" pitchFamily="18" charset="0"/>
                <a:cs typeface="Verdana"/>
                <a:sym typeface="Verdana"/>
              </a:rPr>
              <a:t> V</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rgbClr val="002060"/>
                </a:solidFill>
                <a:latin typeface="Cambria" panose="02040503050406030204" pitchFamily="18" charset="0"/>
                <a:ea typeface="Cambria" panose="02040503050406030204" pitchFamily="18" charset="0"/>
                <a:cs typeface="Verdana"/>
                <a:sym typeface="Verdana"/>
              </a:rPr>
              <a:t>Name of the School Project Coordinators:</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BC0E2-C50F-006C-9D44-ED1F5E6E0AB0}"/>
              </a:ext>
            </a:extLst>
          </p:cNvPr>
          <p:cNvSpPr>
            <a:spLocks noGrp="1"/>
          </p:cNvSpPr>
          <p:nvPr>
            <p:ph type="title"/>
          </p:nvPr>
        </p:nvSpPr>
        <p:spPr/>
        <p:txBody>
          <a:bodyPr/>
          <a:lstStyle/>
          <a:p>
            <a:r>
              <a:rPr lang="en-US" dirty="0"/>
              <a:t>Contents</a:t>
            </a:r>
            <a:endParaRPr lang="en-IN" dirty="0"/>
          </a:p>
        </p:txBody>
      </p:sp>
      <p:sp>
        <p:nvSpPr>
          <p:cNvPr id="3" name="Text Placeholder 2">
            <a:extLst>
              <a:ext uri="{FF2B5EF4-FFF2-40B4-BE49-F238E27FC236}">
                <a16:creationId xmlns:a16="http://schemas.microsoft.com/office/drawing/2014/main" id="{689D9068-BD1B-EA12-449E-821A7F791749}"/>
              </a:ext>
            </a:extLst>
          </p:cNvPr>
          <p:cNvSpPr>
            <a:spLocks noGrp="1"/>
          </p:cNvSpPr>
          <p:nvPr>
            <p:ph type="body" idx="1"/>
          </p:nvPr>
        </p:nvSpPr>
        <p:spPr/>
        <p:txBody>
          <a:bodyPr>
            <a:normAutofit fontScale="70000" lnSpcReduction="20000"/>
          </a:bodyPr>
          <a:lstStyle/>
          <a:p>
            <a:pPr marL="49530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ea typeface="Cambria" panose="02040503050406030204" pitchFamily="18" charset="0"/>
                <a:cs typeface="Times New Roman" panose="02020603050405020304" pitchFamily="18" charset="0"/>
              </a:rPr>
              <a:t>Abstract</a:t>
            </a:r>
          </a:p>
          <a:p>
            <a:pPr marL="49530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Objectives</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Methods &amp; Drawbacks</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Proposed Method &amp; Feasibility</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Architecture Diagram</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Output</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&amp; Software</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Timeline (Gantt Chart)</a:t>
            </a:r>
          </a:p>
          <a:p>
            <a:pPr marL="495300" lvl="0" indent="-342900" algn="just">
              <a:lnSpc>
                <a:spcPct val="20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8799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B91-DDD8-B25F-9373-0E62E8B83F11}"/>
              </a:ext>
            </a:extLst>
          </p:cNvPr>
          <p:cNvSpPr>
            <a:spLocks noGrp="1"/>
          </p:cNvSpPr>
          <p:nvPr>
            <p:ph type="title"/>
          </p:nvPr>
        </p:nvSpPr>
        <p:spPr/>
        <p:txBody>
          <a:bodyPr/>
          <a:lstStyle/>
          <a:p>
            <a:r>
              <a:rPr lang="en-IN" dirty="0"/>
              <a:t>Problem Statement</a:t>
            </a:r>
          </a:p>
        </p:txBody>
      </p:sp>
      <p:sp>
        <p:nvSpPr>
          <p:cNvPr id="3" name="Text Placeholder 2">
            <a:extLst>
              <a:ext uri="{FF2B5EF4-FFF2-40B4-BE49-F238E27FC236}">
                <a16:creationId xmlns:a16="http://schemas.microsoft.com/office/drawing/2014/main" id="{3156BFC8-C3E3-8969-47CC-D9FD96F478C3}"/>
              </a:ext>
            </a:extLst>
          </p:cNvPr>
          <p:cNvSpPr>
            <a:spLocks noGrp="1"/>
          </p:cNvSpPr>
          <p:nvPr>
            <p:ph type="body" idx="1"/>
          </p:nvPr>
        </p:nvSpPr>
        <p:spPr/>
        <p:txBody>
          <a:bodyPr>
            <a:normAutofit fontScale="925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IN" dirty="0">
                <a:latin typeface="Cambria" panose="02040503050406030204" pitchFamily="18" charset="0"/>
                <a:ea typeface="Cambria" panose="02040503050406030204" pitchFamily="18" charset="0"/>
              </a:rPr>
              <a:t>Ministry of AYUSH</a:t>
            </a:r>
          </a:p>
          <a:p>
            <a:pPr marL="342900" lvl="0" indent="-190500" algn="just">
              <a:spcBef>
                <a:spcPts val="0"/>
              </a:spcBef>
              <a:buNone/>
            </a:pPr>
            <a:endParaRPr lang="en-US" dirty="0">
              <a:latin typeface="Cambria" panose="02040503050406030204" pitchFamily="18" charset="0"/>
              <a:ea typeface="Cambria" panose="02040503050406030204" pitchFamily="18" charset="0"/>
            </a:endParaRPr>
          </a:p>
          <a:p>
            <a:pPr marL="342900" lvl="0" indent="-190500" algn="just">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spcBef>
                <a:spcPts val="0"/>
              </a:spcBef>
              <a:buNone/>
            </a:pPr>
            <a:endParaRPr lang="en-US" dirty="0">
              <a:latin typeface="Cambria" panose="02040503050406030204" pitchFamily="18" charset="0"/>
              <a:ea typeface="Cambria" panose="02040503050406030204" pitchFamily="18" charset="0"/>
            </a:endParaRPr>
          </a:p>
          <a:p>
            <a:pPr marL="342900" lvl="0" indent="-190500" algn="just">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The Global Burden of Disease project has shown that skin diseases continue to be the 4th leading cause of nonfatal disease burden worldwide. These conditions are often the presenting face of more severe systemic illnesses, including HIV and neglected tropical diseases (NTD). such as elephantiasis and other lymphedema causing diseases. Additionally, skin disorders pose a significant threat to patients' well-being, mental health, ability to function, and social participation. However, it is very difficult to provide better dermatological care to under-served or resource poor regions in a cost-effective manner owing to unavailability of efficient diagnostic tools, lack of connectivity, and poor laboratory infrastructure etc. Moreover, there is also a scarcity of physicians with dermatological training. Even, preliminary screening of a dermatological manifestation seems to be an arduous task. Thus, developing an Artificial intelligence-based tool (through Image processing technique) for preliminary diagnosis of numerous dermatological conditions will prove to be a boon in the health care system.</a:t>
            </a:r>
          </a:p>
          <a:p>
            <a:endParaRPr lang="en-IN" dirty="0"/>
          </a:p>
        </p:txBody>
      </p:sp>
    </p:spTree>
    <p:extLst>
      <p:ext uri="{BB962C8B-B14F-4D97-AF65-F5344CB8AC3E}">
        <p14:creationId xmlns:p14="http://schemas.microsoft.com/office/powerpoint/2010/main" val="3019587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23AD0-13B8-7456-E77B-1E35A85CFD3C}"/>
              </a:ext>
            </a:extLst>
          </p:cNvPr>
          <p:cNvSpPr>
            <a:spLocks noGrp="1"/>
          </p:cNvSpPr>
          <p:nvPr>
            <p:ph type="title"/>
          </p:nvPr>
        </p:nvSpPr>
        <p:spPr/>
        <p:txBody>
          <a:bodyPr/>
          <a:lstStyle/>
          <a:p>
            <a:r>
              <a:rPr lang="en-IN" dirty="0"/>
              <a:t>Abstract</a:t>
            </a:r>
          </a:p>
        </p:txBody>
      </p:sp>
      <p:sp>
        <p:nvSpPr>
          <p:cNvPr id="5" name="Rectangle 2">
            <a:extLst>
              <a:ext uri="{FF2B5EF4-FFF2-40B4-BE49-F238E27FC236}">
                <a16:creationId xmlns:a16="http://schemas.microsoft.com/office/drawing/2014/main" id="{1CD3F932-7A66-EC6E-D562-BF2A0E5DC129}"/>
              </a:ext>
            </a:extLst>
          </p:cNvPr>
          <p:cNvSpPr>
            <a:spLocks noGrp="1" noChangeArrowheads="1"/>
          </p:cNvSpPr>
          <p:nvPr>
            <p:ph type="body" idx="1"/>
          </p:nvPr>
        </p:nvSpPr>
        <p:spPr bwMode="auto">
          <a:xfrm>
            <a:off x="812800" y="934561"/>
            <a:ext cx="1085809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lang="en-US" sz="1800" dirty="0"/>
              <a:t>The timely and accurate diagnosis of dermatological diseases remains a critical challenge in global healthcare, threatening patient outcomes due to delayed assessments and a shortage of specialists. </a:t>
            </a:r>
          </a:p>
          <a:p>
            <a:pPr marL="0" indent="0" eaLnBrk="0" fontAlgn="base" hangingPunct="0">
              <a:spcBef>
                <a:spcPct val="0"/>
              </a:spcBef>
              <a:spcAft>
                <a:spcPct val="0"/>
              </a:spcAft>
              <a:buClrTx/>
              <a:buSzTx/>
              <a:buNone/>
            </a:pPr>
            <a:endParaRPr lang="en-US" sz="1800" dirty="0"/>
          </a:p>
          <a:p>
            <a:pPr marL="285750" indent="-285750" eaLnBrk="0" fontAlgn="base" hangingPunct="0">
              <a:spcBef>
                <a:spcPct val="0"/>
              </a:spcBef>
              <a:spcAft>
                <a:spcPct val="0"/>
              </a:spcAft>
              <a:buClrTx/>
              <a:buSzTx/>
            </a:pPr>
            <a:r>
              <a:rPr lang="en-US" sz="1800" dirty="0"/>
              <a:t>Traditional visual diagnostic methods are often subjective and fail to provide scalable, immediate support, particularly in non-specialist clinical settings. This project develops an AI-powered diagnostic platform for dermatological analysis, leveraging deep learning to classify various skin conditions from clinical images.</a:t>
            </a:r>
          </a:p>
          <a:p>
            <a:pPr marL="285750" indent="-285750" eaLnBrk="0" fontAlgn="base" hangingPunct="0">
              <a:spcBef>
                <a:spcPct val="0"/>
              </a:spcBef>
              <a:spcAft>
                <a:spcPct val="0"/>
              </a:spcAft>
              <a:buClrTx/>
              <a:buSzTx/>
            </a:pPr>
            <a:endParaRPr lang="en-US" sz="1800" dirty="0"/>
          </a:p>
          <a:p>
            <a:pPr marL="285750" indent="-285750" eaLnBrk="0" fontAlgn="base" hangingPunct="0">
              <a:spcBef>
                <a:spcPct val="0"/>
              </a:spcBef>
              <a:spcAft>
                <a:spcPct val="0"/>
              </a:spcAft>
              <a:buClrTx/>
              <a:buSzTx/>
            </a:pPr>
            <a:r>
              <a:rPr lang="en-US" sz="1800" dirty="0"/>
              <a:t>The system combines a robust Convolutional Neural Network (CNN) for multi-class identification of diseases, a user-friendly interface for seamless image submission, and Explainable AI (XAI) to enhance diagnostic transparency. </a:t>
            </a:r>
          </a:p>
          <a:p>
            <a:pPr marL="0" indent="0" eaLnBrk="0" fontAlgn="base" hangingPunct="0">
              <a:spcBef>
                <a:spcPct val="0"/>
              </a:spcBef>
              <a:spcAft>
                <a:spcPct val="0"/>
              </a:spcAft>
              <a:buClrTx/>
              <a:buSzTx/>
              <a:buNone/>
            </a:pPr>
            <a:endParaRPr lang="en-US" sz="1800" dirty="0"/>
          </a:p>
          <a:p>
            <a:pPr marL="285750" indent="-285750" eaLnBrk="0" fontAlgn="base" hangingPunct="0">
              <a:spcBef>
                <a:spcPct val="0"/>
              </a:spcBef>
              <a:spcAft>
                <a:spcPct val="0"/>
              </a:spcAft>
              <a:buClrTx/>
              <a:buSzTx/>
            </a:pPr>
            <a:r>
              <a:rPr lang="en-US" sz="1800" dirty="0"/>
              <a:t>By providing rapid, data-driven insights, the platform acts as a powerful decision support tool, aiming to improve diagnostic accuracy, increase patient access to preliminary screenings, and foster a culture of early detection in dermatological care.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8519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50CD1-DE17-DE0A-2F72-7FE6BFEC56E9}"/>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917437D7-5002-9240-BBA7-2C60D3A4C1B1}"/>
              </a:ext>
            </a:extLst>
          </p:cNvPr>
          <p:cNvSpPr>
            <a:spLocks noGrp="1"/>
          </p:cNvSpPr>
          <p:nvPr>
            <p:ph type="body" idx="1"/>
          </p:nvPr>
        </p:nvSpPr>
        <p:spPr/>
        <p:txBody>
          <a:bodyPr/>
          <a:lstStyle/>
          <a:p>
            <a:endParaRPr lang="en-IN" dirty="0"/>
          </a:p>
        </p:txBody>
      </p:sp>
      <p:graphicFrame>
        <p:nvGraphicFramePr>
          <p:cNvPr id="5" name="Table 4">
            <a:extLst>
              <a:ext uri="{FF2B5EF4-FFF2-40B4-BE49-F238E27FC236}">
                <a16:creationId xmlns:a16="http://schemas.microsoft.com/office/drawing/2014/main" id="{34A21BE2-4938-6C5E-52DC-01F048056675}"/>
              </a:ext>
            </a:extLst>
          </p:cNvPr>
          <p:cNvGraphicFramePr>
            <a:graphicFrameLocks noGrp="1"/>
          </p:cNvGraphicFramePr>
          <p:nvPr>
            <p:extLst>
              <p:ext uri="{D42A27DB-BD31-4B8C-83A1-F6EECF244321}">
                <p14:modId xmlns:p14="http://schemas.microsoft.com/office/powerpoint/2010/main" val="846900495"/>
              </p:ext>
            </p:extLst>
          </p:nvPr>
        </p:nvGraphicFramePr>
        <p:xfrm>
          <a:off x="929148" y="989639"/>
          <a:ext cx="10333704" cy="5274139"/>
        </p:xfrm>
        <a:graphic>
          <a:graphicData uri="http://schemas.openxmlformats.org/drawingml/2006/table">
            <a:tbl>
              <a:tblPr firstRow="1" bandRow="1">
                <a:tableStyleId>{3C2FFA5D-87B4-456A-9821-1D502468CF0F}</a:tableStyleId>
              </a:tblPr>
              <a:tblGrid>
                <a:gridCol w="511278">
                  <a:extLst>
                    <a:ext uri="{9D8B030D-6E8A-4147-A177-3AD203B41FA5}">
                      <a16:colId xmlns:a16="http://schemas.microsoft.com/office/drawing/2014/main" val="3785503400"/>
                    </a:ext>
                  </a:extLst>
                </a:gridCol>
                <a:gridCol w="1823635">
                  <a:extLst>
                    <a:ext uri="{9D8B030D-6E8A-4147-A177-3AD203B41FA5}">
                      <a16:colId xmlns:a16="http://schemas.microsoft.com/office/drawing/2014/main" val="1246016682"/>
                    </a:ext>
                  </a:extLst>
                </a:gridCol>
                <a:gridCol w="1145893">
                  <a:extLst>
                    <a:ext uri="{9D8B030D-6E8A-4147-A177-3AD203B41FA5}">
                      <a16:colId xmlns:a16="http://schemas.microsoft.com/office/drawing/2014/main" val="3396810647"/>
                    </a:ext>
                  </a:extLst>
                </a:gridCol>
                <a:gridCol w="2599388">
                  <a:extLst>
                    <a:ext uri="{9D8B030D-6E8A-4147-A177-3AD203B41FA5}">
                      <a16:colId xmlns:a16="http://schemas.microsoft.com/office/drawing/2014/main" val="3046597127"/>
                    </a:ext>
                  </a:extLst>
                </a:gridCol>
                <a:gridCol w="1752693">
                  <a:extLst>
                    <a:ext uri="{9D8B030D-6E8A-4147-A177-3AD203B41FA5}">
                      <a16:colId xmlns:a16="http://schemas.microsoft.com/office/drawing/2014/main" val="3711297263"/>
                    </a:ext>
                  </a:extLst>
                </a:gridCol>
                <a:gridCol w="2500817">
                  <a:extLst>
                    <a:ext uri="{9D8B030D-6E8A-4147-A177-3AD203B41FA5}">
                      <a16:colId xmlns:a16="http://schemas.microsoft.com/office/drawing/2014/main" val="1444908234"/>
                    </a:ext>
                  </a:extLst>
                </a:gridCol>
              </a:tblGrid>
              <a:tr h="752598">
                <a:tc>
                  <a:txBody>
                    <a:bodyPr/>
                    <a:lstStyle/>
                    <a:p>
                      <a:r>
                        <a:rPr lang="en-IN" dirty="0"/>
                        <a:t>Ref No</a:t>
                      </a:r>
                    </a:p>
                  </a:txBody>
                  <a:tcPr/>
                </a:tc>
                <a:tc>
                  <a:txBody>
                    <a:bodyPr/>
                    <a:lstStyle/>
                    <a:p>
                      <a:r>
                        <a:rPr lang="en-IN" dirty="0"/>
                        <a:t>Title of the paper</a:t>
                      </a:r>
                    </a:p>
                  </a:txBody>
                  <a:tcPr/>
                </a:tc>
                <a:tc>
                  <a:txBody>
                    <a:bodyPr/>
                    <a:lstStyle/>
                    <a:p>
                      <a:r>
                        <a:rPr lang="en-IN" dirty="0"/>
                        <a:t>Name of the Author and Year</a:t>
                      </a:r>
                    </a:p>
                  </a:txBody>
                  <a:tcPr/>
                </a:tc>
                <a:tc>
                  <a:txBody>
                    <a:bodyPr/>
                    <a:lstStyle/>
                    <a:p>
                      <a:r>
                        <a:rPr lang="en-IN" dirty="0"/>
                        <a:t>Method used</a:t>
                      </a:r>
                    </a:p>
                  </a:txBody>
                  <a:tcPr/>
                </a:tc>
                <a:tc>
                  <a:txBody>
                    <a:bodyPr/>
                    <a:lstStyle/>
                    <a:p>
                      <a:r>
                        <a:rPr lang="en-IN" dirty="0"/>
                        <a:t>Merits</a:t>
                      </a:r>
                    </a:p>
                  </a:txBody>
                  <a:tcPr/>
                </a:tc>
                <a:tc>
                  <a:txBody>
                    <a:bodyPr/>
                    <a:lstStyle/>
                    <a:p>
                      <a:r>
                        <a:rPr lang="en-IN"/>
                        <a:t>Demirits</a:t>
                      </a:r>
                    </a:p>
                  </a:txBody>
                  <a:tcPr/>
                </a:tc>
                <a:extLst>
                  <a:ext uri="{0D108BD9-81ED-4DB2-BD59-A6C34878D82A}">
                    <a16:rowId xmlns:a16="http://schemas.microsoft.com/office/drawing/2014/main" val="1255118781"/>
                  </a:ext>
                </a:extLst>
              </a:tr>
              <a:tr h="894421">
                <a:tc>
                  <a:txBody>
                    <a:bodyPr/>
                    <a:lstStyle/>
                    <a:p>
                      <a:r>
                        <a:rPr lang="en-IN" dirty="0"/>
                        <a:t>1</a:t>
                      </a:r>
                    </a:p>
                  </a:txBody>
                  <a:tcPr/>
                </a:tc>
                <a:tc>
                  <a:txBody>
                    <a:bodyPr/>
                    <a:lstStyle/>
                    <a:p>
                      <a:r>
                        <a:rPr lang="en-US" sz="1000" b="1" dirty="0"/>
                        <a:t>JILDYA-Net</a:t>
                      </a:r>
                      <a:r>
                        <a:rPr lang="en-US" sz="1000" dirty="0"/>
                        <a:t>: An Efficient Lightweight Multi-Class Classification Architecture for Skin Lesions </a:t>
                      </a:r>
                      <a:endParaRPr lang="en-IN" sz="1000" dirty="0"/>
                    </a:p>
                  </a:txBody>
                  <a:tcPr/>
                </a:tc>
                <a:tc>
                  <a:txBody>
                    <a:bodyPr/>
                    <a:lstStyle/>
                    <a:p>
                      <a:r>
                        <a:rPr lang="en-IN" sz="1000" dirty="0"/>
                        <a:t>Ayoub Laouarem, et al. (2025) </a:t>
                      </a:r>
                    </a:p>
                  </a:txBody>
                  <a:tcPr/>
                </a:tc>
                <a:tc>
                  <a:txBody>
                    <a:bodyPr/>
                    <a:lstStyle/>
                    <a:p>
                      <a:r>
                        <a:rPr lang="en-US" sz="900" dirty="0"/>
                        <a:t>Dataset used:</a:t>
                      </a:r>
                      <a:r>
                        <a:rPr lang="en-IN" sz="900" b="0" i="0" u="none" strike="noStrike" cap="none" dirty="0">
                          <a:solidFill>
                            <a:schemeClr val="dk1"/>
                          </a:solidFill>
                          <a:effectLst/>
                          <a:latin typeface="+mn-lt"/>
                          <a:ea typeface="+mn-ea"/>
                          <a:cs typeface="+mn-cs"/>
                          <a:sym typeface="Arial"/>
                        </a:rPr>
                        <a:t>HAM10000, ISIC-2019</a:t>
                      </a:r>
                      <a:endParaRPr lang="en-US" sz="900" dirty="0"/>
                    </a:p>
                    <a:p>
                      <a:r>
                        <a:rPr lang="en-US" sz="900" dirty="0"/>
                        <a:t>Model used:</a:t>
                      </a:r>
                      <a:r>
                        <a:rPr lang="en-IN" sz="900" b="0" i="0" u="none" strike="noStrike" cap="none" dirty="0">
                          <a:solidFill>
                            <a:schemeClr val="dk1"/>
                          </a:solidFill>
                          <a:effectLst/>
                          <a:latin typeface="+mn-lt"/>
                          <a:ea typeface="+mn-ea"/>
                          <a:cs typeface="+mn-cs"/>
                          <a:sym typeface="Arial"/>
                        </a:rPr>
                        <a:t>JILDYA-Net (ASFE, </a:t>
                      </a:r>
                      <a:r>
                        <a:rPr lang="en-IN" sz="900" b="0" i="0" u="none" strike="noStrike" cap="none" dirty="0" err="1">
                          <a:solidFill>
                            <a:schemeClr val="dk1"/>
                          </a:solidFill>
                          <a:effectLst/>
                          <a:latin typeface="+mn-lt"/>
                          <a:ea typeface="+mn-ea"/>
                          <a:cs typeface="+mn-cs"/>
                          <a:sym typeface="Arial"/>
                        </a:rPr>
                        <a:t>FNet</a:t>
                      </a:r>
                      <a:r>
                        <a:rPr lang="en-IN" sz="900" b="0" i="0" u="none" strike="noStrike" cap="none" dirty="0">
                          <a:solidFill>
                            <a:schemeClr val="dk1"/>
                          </a:solidFill>
                          <a:effectLst/>
                          <a:latin typeface="+mn-lt"/>
                          <a:ea typeface="+mn-ea"/>
                          <a:cs typeface="+mn-cs"/>
                          <a:sym typeface="Arial"/>
                        </a:rPr>
                        <a:t> encoder, EAM)</a:t>
                      </a:r>
                      <a:endParaRPr lang="en-US" sz="900" dirty="0"/>
                    </a:p>
                    <a:p>
                      <a:r>
                        <a:rPr lang="en-US" sz="900" dirty="0"/>
                        <a:t>Accuracy %:</a:t>
                      </a:r>
                      <a:r>
                        <a:rPr lang="en-IN" sz="900" b="0" i="0" u="none" strike="noStrike" cap="none" dirty="0">
                          <a:solidFill>
                            <a:schemeClr val="dk1"/>
                          </a:solidFill>
                          <a:effectLst/>
                          <a:latin typeface="+mn-lt"/>
                          <a:ea typeface="+mn-ea"/>
                          <a:cs typeface="+mn-cs"/>
                          <a:sym typeface="Arial"/>
                        </a:rPr>
                        <a:t>98.80% (HAM10000), 95.10% (ISIC-2019)</a:t>
                      </a:r>
                      <a:endParaRPr lang="en-US" sz="900" dirty="0"/>
                    </a:p>
                  </a:txBody>
                  <a:tcPr/>
                </a:tc>
                <a:tc>
                  <a:txBody>
                    <a:bodyPr/>
                    <a:lstStyle/>
                    <a:p>
                      <a:r>
                        <a:rPr lang="en-US" sz="1000" dirty="0"/>
                        <a:t>Outperforms state-of-the-art models in accuracy and efficiency,</a:t>
                      </a:r>
                      <a:endParaRPr lang="en-IN" sz="1000" dirty="0"/>
                    </a:p>
                  </a:txBody>
                  <a:tcPr/>
                </a:tc>
                <a:tc>
                  <a:txBody>
                    <a:bodyPr/>
                    <a:lstStyle/>
                    <a:p>
                      <a:r>
                        <a:rPr lang="en-US" sz="1000" dirty="0"/>
                        <a:t>The model's performance can be sensitive to class imbalance and small datasets, and its lightweight architecture may struggle with highly complex scenarios.</a:t>
                      </a:r>
                      <a:endParaRPr lang="en-IN" sz="1000" dirty="0"/>
                    </a:p>
                  </a:txBody>
                  <a:tcPr/>
                </a:tc>
                <a:extLst>
                  <a:ext uri="{0D108BD9-81ED-4DB2-BD59-A6C34878D82A}">
                    <a16:rowId xmlns:a16="http://schemas.microsoft.com/office/drawing/2014/main" val="2353411326"/>
                  </a:ext>
                </a:extLst>
              </a:tr>
              <a:tr h="839071">
                <a:tc>
                  <a:txBody>
                    <a:bodyPr/>
                    <a:lstStyle/>
                    <a:p>
                      <a:r>
                        <a:rPr lang="en-IN" dirty="0"/>
                        <a:t>2</a:t>
                      </a:r>
                    </a:p>
                  </a:txBody>
                  <a:tcPr/>
                </a:tc>
                <a:tc>
                  <a:txBody>
                    <a:bodyPr/>
                    <a:lstStyle/>
                    <a:p>
                      <a:r>
                        <a:rPr lang="en-US" sz="1000" dirty="0"/>
                        <a:t>Self-attention transformer unit-based deep learning framework for skin lesions classification in smart healthcare</a:t>
                      </a:r>
                      <a:endParaRPr lang="en-IN" sz="1000" dirty="0"/>
                    </a:p>
                  </a:txBody>
                  <a:tcPr/>
                </a:tc>
                <a:tc>
                  <a:txBody>
                    <a:bodyPr/>
                    <a:lstStyle/>
                    <a:p>
                      <a:r>
                        <a:rPr lang="en-IN" sz="1000" dirty="0"/>
                        <a:t>Khosro Rezaee &amp; Hossein Ghayoumi Zadeh (2024)</a:t>
                      </a:r>
                    </a:p>
                  </a:txBody>
                  <a:tcPr/>
                </a:tc>
                <a:tc>
                  <a:txBody>
                    <a:bodyPr/>
                    <a:lstStyle/>
                    <a:p>
                      <a:r>
                        <a:rPr lang="en-US" sz="900" dirty="0"/>
                        <a:t>Dataset used:</a:t>
                      </a:r>
                      <a:r>
                        <a:rPr lang="en-IN" sz="900" b="0" i="0" u="none" strike="noStrike" cap="none" dirty="0">
                          <a:solidFill>
                            <a:schemeClr val="dk1"/>
                          </a:solidFill>
                          <a:effectLst/>
                          <a:latin typeface="+mn-lt"/>
                          <a:ea typeface="+mn-ea"/>
                          <a:cs typeface="+mn-cs"/>
                          <a:sym typeface="Arial"/>
                        </a:rPr>
                        <a:t>ISIC-2019, PH²</a:t>
                      </a:r>
                      <a:endParaRPr lang="en-US" sz="900" dirty="0"/>
                    </a:p>
                    <a:p>
                      <a:r>
                        <a:rPr lang="en-US" sz="900" dirty="0"/>
                        <a:t>Model used:</a:t>
                      </a:r>
                      <a:r>
                        <a:rPr lang="en-IN" sz="900" b="0" i="0" u="none" strike="noStrike" cap="none" dirty="0">
                          <a:solidFill>
                            <a:schemeClr val="dk1"/>
                          </a:solidFill>
                          <a:effectLst/>
                          <a:latin typeface="+mn-lt"/>
                          <a:ea typeface="+mn-ea"/>
                          <a:cs typeface="+mn-cs"/>
                          <a:sym typeface="Arial"/>
                        </a:rPr>
                        <a:t>Bi-branch (Transformer module, SAU, optResNet-18)</a:t>
                      </a:r>
                      <a:endParaRPr lang="en-US" sz="900" dirty="0"/>
                    </a:p>
                    <a:p>
                      <a:r>
                        <a:rPr lang="en-US" sz="900" dirty="0"/>
                        <a:t>Accuracy %:</a:t>
                      </a:r>
                      <a:r>
                        <a:rPr lang="en-IN" sz="900" b="0" i="0" u="none" strike="noStrike" cap="none" dirty="0">
                          <a:solidFill>
                            <a:schemeClr val="dk1"/>
                          </a:solidFill>
                          <a:effectLst/>
                          <a:latin typeface="+mn-lt"/>
                          <a:ea typeface="+mn-ea"/>
                          <a:cs typeface="+mn-cs"/>
                          <a:sym typeface="Arial"/>
                        </a:rPr>
                        <a:t>97.48% (ISIC-2019), 96.87% (PH²)</a:t>
                      </a:r>
                      <a:endParaRPr lang="en-US" sz="900" dirty="0"/>
                    </a:p>
                  </a:txBody>
                  <a:tcPr/>
                </a:tc>
                <a:tc>
                  <a:txBody>
                    <a:bodyPr/>
                    <a:lstStyle/>
                    <a:p>
                      <a:r>
                        <a:rPr lang="en-US" sz="1000" dirty="0"/>
                        <a:t>Achieves very high accuracy (97.48% on ISIC-2019) by effectively combining the strengths of both Transformer and CNN architectures.</a:t>
                      </a:r>
                      <a:endParaRPr lang="en-IN" sz="1000" dirty="0"/>
                    </a:p>
                  </a:txBody>
                  <a:tcPr/>
                </a:tc>
                <a:tc>
                  <a:txBody>
                    <a:bodyPr/>
                    <a:lstStyle/>
                    <a:p>
                      <a:r>
                        <a:rPr lang="en-US" sz="1000" dirty="0"/>
                        <a:t>Performance is sensitive to insufficient training data, varied imaging conditions, and artifacts like human hair.</a:t>
                      </a:r>
                      <a:endParaRPr lang="en-IN" sz="1000" dirty="0"/>
                    </a:p>
                  </a:txBody>
                  <a:tcPr/>
                </a:tc>
                <a:extLst>
                  <a:ext uri="{0D108BD9-81ED-4DB2-BD59-A6C34878D82A}">
                    <a16:rowId xmlns:a16="http://schemas.microsoft.com/office/drawing/2014/main" val="1069789396"/>
                  </a:ext>
                </a:extLst>
              </a:tr>
              <a:tr h="799558">
                <a:tc>
                  <a:txBody>
                    <a:bodyPr/>
                    <a:lstStyle/>
                    <a:p>
                      <a:r>
                        <a:rPr lang="en-IN" dirty="0"/>
                        <a:t>3</a:t>
                      </a:r>
                    </a:p>
                  </a:txBody>
                  <a:tcPr/>
                </a:tc>
                <a:tc>
                  <a:txBody>
                    <a:bodyPr/>
                    <a:lstStyle/>
                    <a:p>
                      <a:r>
                        <a:rPr lang="en-IN" sz="1000" dirty="0"/>
                        <a:t>Quantization-Aware Neuromorphic Architecture for Efficient Skin Disease Classification on Resource-Constrained Devices</a:t>
                      </a:r>
                    </a:p>
                  </a:txBody>
                  <a:tcPr/>
                </a:tc>
                <a:tc>
                  <a:txBody>
                    <a:bodyPr/>
                    <a:lstStyle/>
                    <a:p>
                      <a:r>
                        <a:rPr lang="en-IN" sz="1000" dirty="0"/>
                        <a:t>Haitian Wang, et al. (2025)</a:t>
                      </a:r>
                    </a:p>
                  </a:txBody>
                  <a:tcPr/>
                </a:tc>
                <a:tc>
                  <a:txBody>
                    <a:bodyPr/>
                    <a:lstStyle/>
                    <a:p>
                      <a:r>
                        <a:rPr lang="en-US" sz="900" dirty="0"/>
                        <a:t>Dataset used:</a:t>
                      </a:r>
                      <a:r>
                        <a:rPr lang="pt-BR" sz="900" b="0" i="0" u="none" strike="noStrike" cap="none" dirty="0">
                          <a:solidFill>
                            <a:schemeClr val="dk1"/>
                          </a:solidFill>
                          <a:effectLst/>
                          <a:latin typeface="+mn-lt"/>
                          <a:ea typeface="+mn-ea"/>
                          <a:cs typeface="+mn-cs"/>
                          <a:sym typeface="Arial"/>
                        </a:rPr>
                        <a:t>HAM10000, clinical dataset (Hospital Sultanah Bahiyah)</a:t>
                      </a:r>
                      <a:endParaRPr lang="en-US" sz="900" dirty="0"/>
                    </a:p>
                    <a:p>
                      <a:r>
                        <a:rPr lang="en-US" sz="900" dirty="0"/>
                        <a:t>Model used:</a:t>
                      </a:r>
                      <a:r>
                        <a:rPr lang="en-IN" sz="900" b="0" i="0" u="none" strike="noStrike" cap="none" dirty="0">
                          <a:solidFill>
                            <a:schemeClr val="dk1"/>
                          </a:solidFill>
                          <a:effectLst/>
                          <a:latin typeface="+mn-lt"/>
                          <a:ea typeface="+mn-ea"/>
                          <a:cs typeface="+mn-cs"/>
                          <a:sym typeface="Arial"/>
                        </a:rPr>
                        <a:t>QANA (Spiking Neuromorphic SNN on Akida)</a:t>
                      </a:r>
                      <a:endParaRPr lang="en-US" sz="900" dirty="0"/>
                    </a:p>
                    <a:p>
                      <a:r>
                        <a:rPr lang="en-US" sz="900" dirty="0"/>
                        <a:t>Accuracy %:</a:t>
                      </a:r>
                      <a:r>
                        <a:rPr lang="en-IN" sz="900" b="0" i="0" u="none" strike="noStrike" cap="none" dirty="0">
                          <a:solidFill>
                            <a:schemeClr val="dk1"/>
                          </a:solidFill>
                          <a:effectLst/>
                          <a:latin typeface="+mn-lt"/>
                          <a:ea typeface="+mn-ea"/>
                          <a:cs typeface="+mn-cs"/>
                          <a:sym typeface="Arial"/>
                        </a:rPr>
                        <a:t>91.6% (HAM10000), 90.8% (clinical)</a:t>
                      </a:r>
                      <a:endParaRPr lang="en-US" sz="900" dirty="0"/>
                    </a:p>
                  </a:txBody>
                  <a:tcPr/>
                </a:tc>
                <a:tc>
                  <a:txBody>
                    <a:bodyPr/>
                    <a:lstStyle/>
                    <a:p>
                      <a:r>
                        <a:rPr lang="en-US" sz="1000" dirty="0"/>
                        <a:t>Delivers extremely low latency (1.5 ms) and energy use (1.7 mJ), reducing both by over 94% compared to GPU-based CNNs.</a:t>
                      </a:r>
                      <a:endParaRPr lang="en-IN" sz="1000" dirty="0"/>
                    </a:p>
                  </a:txBody>
                  <a:tcPr/>
                </a:tc>
                <a:tc>
                  <a:txBody>
                    <a:bodyPr/>
                    <a:lstStyle/>
                    <a:p>
                      <a:r>
                        <a:rPr lang="en-US" sz="1000" dirty="0"/>
                        <a:t>The complex CNN-to-SNN conversion process can lead to accuracy loss, especially on small or imbalanced medical datasets.</a:t>
                      </a:r>
                      <a:endParaRPr lang="en-IN" sz="1000" dirty="0"/>
                    </a:p>
                  </a:txBody>
                  <a:tcPr/>
                </a:tc>
                <a:extLst>
                  <a:ext uri="{0D108BD9-81ED-4DB2-BD59-A6C34878D82A}">
                    <a16:rowId xmlns:a16="http://schemas.microsoft.com/office/drawing/2014/main" val="3790606254"/>
                  </a:ext>
                </a:extLst>
              </a:tr>
              <a:tr h="254264">
                <a:tc>
                  <a:txBody>
                    <a:bodyPr/>
                    <a:lstStyle/>
                    <a:p>
                      <a:r>
                        <a:rPr lang="en-IN" dirty="0"/>
                        <a:t>4</a:t>
                      </a:r>
                    </a:p>
                  </a:txBody>
                  <a:tcPr/>
                </a:tc>
                <a:tc>
                  <a:txBody>
                    <a:bodyPr/>
                    <a:lstStyle/>
                    <a:p>
                      <a:r>
                        <a:rPr lang="en-US" sz="1000" dirty="0"/>
                        <a:t>Detection and classification of skin diseases with ensembles of deep learning networks in medical imaging</a:t>
                      </a:r>
                      <a:endParaRPr lang="en-IN" sz="1000" dirty="0"/>
                    </a:p>
                  </a:txBody>
                  <a:tcPr/>
                </a:tc>
                <a:tc>
                  <a:txBody>
                    <a:bodyPr/>
                    <a:lstStyle/>
                    <a:p>
                      <a:r>
                        <a:rPr lang="fi-FI" sz="1000" dirty="0"/>
                        <a:t>A. Kalaivani &amp; Dr. S. Karpagavalli (2022) </a:t>
                      </a:r>
                      <a:endParaRPr lang="en-IN" sz="1000" dirty="0"/>
                    </a:p>
                  </a:txBody>
                  <a:tcPr/>
                </a:tc>
                <a:tc>
                  <a:txBody>
                    <a:bodyPr/>
                    <a:lstStyle/>
                    <a:p>
                      <a:r>
                        <a:rPr lang="en-US" sz="900" dirty="0"/>
                        <a:t>Dataset used:</a:t>
                      </a:r>
                      <a:r>
                        <a:rPr lang="en-IN" sz="900" b="0" i="0" u="none" strike="noStrike" cap="none" dirty="0">
                          <a:solidFill>
                            <a:schemeClr val="dk1"/>
                          </a:solidFill>
                          <a:effectLst/>
                          <a:latin typeface="+mn-lt"/>
                          <a:ea typeface="+mn-ea"/>
                          <a:cs typeface="+mn-cs"/>
                          <a:sym typeface="Arial"/>
                        </a:rPr>
                        <a:t>HAM10000</a:t>
                      </a:r>
                      <a:endParaRPr lang="en-US" sz="900" dirty="0"/>
                    </a:p>
                    <a:p>
                      <a:r>
                        <a:rPr lang="en-US" sz="900" dirty="0"/>
                        <a:t>Model </a:t>
                      </a:r>
                      <a:r>
                        <a:rPr lang="en-US" sz="900" dirty="0" err="1"/>
                        <a:t>used:</a:t>
                      </a:r>
                      <a:r>
                        <a:rPr lang="en-US" sz="900" b="0" i="0" u="none" strike="noStrike" cap="none" dirty="0" err="1">
                          <a:solidFill>
                            <a:schemeClr val="dk1"/>
                          </a:solidFill>
                          <a:effectLst/>
                          <a:latin typeface="+mn-lt"/>
                          <a:ea typeface="+mn-ea"/>
                          <a:cs typeface="+mn-cs"/>
                          <a:sym typeface="Arial"/>
                        </a:rPr>
                        <a:t>RF-DCNN</a:t>
                      </a:r>
                      <a:r>
                        <a:rPr lang="en-US" sz="900" b="0" i="0" u="none" strike="noStrike" cap="none" dirty="0">
                          <a:solidFill>
                            <a:schemeClr val="dk1"/>
                          </a:solidFill>
                          <a:effectLst/>
                          <a:latin typeface="+mn-lt"/>
                          <a:ea typeface="+mn-ea"/>
                          <a:cs typeface="+mn-cs"/>
                          <a:sym typeface="Arial"/>
                        </a:rPr>
                        <a:t> (ensemble of Random Forest and CNN)</a:t>
                      </a:r>
                      <a:endParaRPr lang="en-US" sz="900" dirty="0"/>
                    </a:p>
                    <a:p>
                      <a:r>
                        <a:rPr lang="en-US" sz="900" dirty="0"/>
                        <a:t>Accuracy %:</a:t>
                      </a:r>
                      <a:r>
                        <a:rPr lang="en-IN" sz="900" b="0" i="0" u="none" strike="noStrike" cap="none" dirty="0">
                          <a:solidFill>
                            <a:schemeClr val="dk1"/>
                          </a:solidFill>
                          <a:effectLst/>
                          <a:latin typeface="+mn-lt"/>
                          <a:ea typeface="+mn-ea"/>
                          <a:cs typeface="+mn-cs"/>
                          <a:sym typeface="Arial"/>
                        </a:rPr>
                        <a:t>96.1%</a:t>
                      </a:r>
                      <a:endParaRPr lang="en-US" sz="900" dirty="0"/>
                    </a:p>
                  </a:txBody>
                  <a:tcPr/>
                </a:tc>
                <a:tc>
                  <a:txBody>
                    <a:bodyPr/>
                    <a:lstStyle/>
                    <a:p>
                      <a:r>
                        <a:rPr lang="en-US" sz="1000" dirty="0"/>
                        <a:t>Achieved a higher accuracy of 96.1% compared to using a single, classical CNN classifier alone.</a:t>
                      </a:r>
                      <a:endParaRPr lang="en-IN" sz="1000" dirty="0"/>
                    </a:p>
                  </a:txBody>
                  <a:tcPr/>
                </a:tc>
                <a:tc>
                  <a:txBody>
                    <a:bodyPr/>
                    <a:lstStyle/>
                    <a:p>
                      <a:r>
                        <a:rPr lang="en-US" sz="1000" dirty="0"/>
                        <a:t>The combined model has a longer prediction time, is more difficult to interpret, and can suffer from overfitting.</a:t>
                      </a:r>
                      <a:endParaRPr lang="en-IN" sz="1000" dirty="0"/>
                    </a:p>
                  </a:txBody>
                  <a:tcPr/>
                </a:tc>
                <a:extLst>
                  <a:ext uri="{0D108BD9-81ED-4DB2-BD59-A6C34878D82A}">
                    <a16:rowId xmlns:a16="http://schemas.microsoft.com/office/drawing/2014/main" val="1390481945"/>
                  </a:ext>
                </a:extLst>
              </a:tr>
              <a:tr h="254264">
                <a:tc>
                  <a:txBody>
                    <a:bodyPr/>
                    <a:lstStyle/>
                    <a:p>
                      <a:r>
                        <a:rPr lang="en-IN" dirty="0"/>
                        <a:t>5</a:t>
                      </a:r>
                    </a:p>
                  </a:txBody>
                  <a:tcPr/>
                </a:tc>
                <a:tc>
                  <a:txBody>
                    <a:bodyPr/>
                    <a:lstStyle/>
                    <a:p>
                      <a:r>
                        <a:rPr lang="en-US" sz="1000" dirty="0"/>
                        <a:t>Multi-Class Skin Problem Classification Using Deep Generative Adversarial Network (DGAN)</a:t>
                      </a:r>
                      <a:endParaRPr lang="en-IN" sz="1000" dirty="0"/>
                    </a:p>
                  </a:txBody>
                  <a:tcPr/>
                </a:tc>
                <a:tc>
                  <a:txBody>
                    <a:bodyPr/>
                    <a:lstStyle/>
                    <a:p>
                      <a:r>
                        <a:rPr lang="fi-FI" sz="1000" dirty="0"/>
                        <a:t>Maleika Heenaye-Mamode Khan, et al. (2022) </a:t>
                      </a:r>
                      <a:endParaRPr lang="en-IN" sz="1000" dirty="0"/>
                    </a:p>
                  </a:txBody>
                  <a:tcPr/>
                </a:tc>
                <a:tc>
                  <a:txBody>
                    <a:bodyPr/>
                    <a:lstStyle/>
                    <a:p>
                      <a:r>
                        <a:rPr lang="en-US" sz="900" dirty="0"/>
                        <a:t>Dataset used:</a:t>
                      </a:r>
                      <a:r>
                        <a:rPr lang="en-IN" sz="900" b="0" i="0" u="none" strike="noStrike" cap="none" dirty="0">
                          <a:solidFill>
                            <a:schemeClr val="dk1"/>
                          </a:solidFill>
                          <a:effectLst/>
                          <a:latin typeface="+mn-lt"/>
                          <a:ea typeface="+mn-ea"/>
                          <a:cs typeface="+mn-cs"/>
                          <a:sym typeface="Arial"/>
                        </a:rPr>
                        <a:t>Custom (13,650 images: PH², SD-198, </a:t>
                      </a:r>
                      <a:r>
                        <a:rPr lang="en-IN" sz="900" b="0" i="0" u="none" strike="noStrike" cap="none" dirty="0" err="1">
                          <a:solidFill>
                            <a:schemeClr val="dk1"/>
                          </a:solidFill>
                          <a:effectLst/>
                          <a:latin typeface="+mn-lt"/>
                          <a:ea typeface="+mn-ea"/>
                          <a:cs typeface="+mn-cs"/>
                          <a:sym typeface="Arial"/>
                        </a:rPr>
                        <a:t>DermNet</a:t>
                      </a:r>
                      <a:r>
                        <a:rPr lang="en-IN" sz="900" b="0" i="0" u="none" strike="noStrike" cap="none" dirty="0">
                          <a:solidFill>
                            <a:schemeClr val="dk1"/>
                          </a:solidFill>
                          <a:effectLst/>
                          <a:latin typeface="+mn-lt"/>
                          <a:ea typeface="+mn-ea"/>
                          <a:cs typeface="+mn-cs"/>
                          <a:sym typeface="Arial"/>
                        </a:rPr>
                        <a:t>)</a:t>
                      </a:r>
                      <a:endParaRPr lang="en-US" sz="900" dirty="0"/>
                    </a:p>
                    <a:p>
                      <a:r>
                        <a:rPr lang="en-US" sz="900" dirty="0"/>
                        <a:t>Model </a:t>
                      </a:r>
                      <a:r>
                        <a:rPr lang="en-US" sz="900" dirty="0" err="1"/>
                        <a:t>used:</a:t>
                      </a:r>
                      <a:r>
                        <a:rPr lang="en-US" sz="900" b="0" i="0" u="none" strike="noStrike" cap="none" dirty="0" err="1">
                          <a:solidFill>
                            <a:schemeClr val="dk1"/>
                          </a:solidFill>
                          <a:effectLst/>
                          <a:latin typeface="+mn-lt"/>
                          <a:ea typeface="+mn-ea"/>
                          <a:cs typeface="+mn-cs"/>
                          <a:sym typeface="Arial"/>
                        </a:rPr>
                        <a:t>DGAN</a:t>
                      </a:r>
                      <a:r>
                        <a:rPr lang="en-US" sz="900" b="0" i="0" u="none" strike="noStrike" cap="none" dirty="0">
                          <a:solidFill>
                            <a:schemeClr val="dk1"/>
                          </a:solidFill>
                          <a:effectLst/>
                          <a:latin typeface="+mn-lt"/>
                          <a:ea typeface="+mn-ea"/>
                          <a:cs typeface="+mn-cs"/>
                          <a:sym typeface="Arial"/>
                        </a:rPr>
                        <a:t> (Deep Generative Adversarial Network)</a:t>
                      </a:r>
                      <a:endParaRPr lang="en-US" sz="900" dirty="0"/>
                    </a:p>
                    <a:p>
                      <a:r>
                        <a:rPr lang="en-US" sz="900" dirty="0"/>
                        <a:t>Accuracy %:</a:t>
                      </a:r>
                      <a:r>
                        <a:rPr lang="en-IN" sz="900" b="0" i="0" u="none" strike="noStrike" cap="none" dirty="0">
                          <a:solidFill>
                            <a:schemeClr val="dk1"/>
                          </a:solidFill>
                          <a:effectLst/>
                          <a:latin typeface="+mn-lt"/>
                          <a:ea typeface="+mn-ea"/>
                          <a:cs typeface="+mn-cs"/>
                          <a:sym typeface="Arial"/>
                        </a:rPr>
                        <a:t>92.3% (labelled), 91.1% (unlabelled)</a:t>
                      </a:r>
                      <a:endParaRPr lang="en-US" sz="900" dirty="0"/>
                    </a:p>
                  </a:txBody>
                  <a:tcPr/>
                </a:tc>
                <a:tc>
                  <a:txBody>
                    <a:bodyPr/>
                    <a:lstStyle/>
                    <a:p>
                      <a:r>
                        <a:rPr lang="en-US" sz="1000" dirty="0"/>
                        <a:t>Successfully addresses limited and imbalanced datasets, outperforming traditional augmentation by achieving 92.3% accuracy on labeled data.</a:t>
                      </a:r>
                      <a:endParaRPr lang="en-IN" sz="1000" dirty="0"/>
                    </a:p>
                  </a:txBody>
                  <a:tcPr/>
                </a:tc>
                <a:tc>
                  <a:txBody>
                    <a:bodyPr/>
                    <a:lstStyle/>
                    <a:p>
                      <a:r>
                        <a:rPr lang="en-US" sz="1000" dirty="0"/>
                        <a:t>A main challenge is improving the stability of the DGAN model during training, which is a common issue for GANs.</a:t>
                      </a:r>
                      <a:endParaRPr lang="en-IN" sz="1000" dirty="0"/>
                    </a:p>
                  </a:txBody>
                  <a:tcPr/>
                </a:tc>
                <a:extLst>
                  <a:ext uri="{0D108BD9-81ED-4DB2-BD59-A6C34878D82A}">
                    <a16:rowId xmlns:a16="http://schemas.microsoft.com/office/drawing/2014/main" val="3235765691"/>
                  </a:ext>
                </a:extLst>
              </a:tr>
            </a:tbl>
          </a:graphicData>
        </a:graphic>
      </p:graphicFrame>
    </p:spTree>
    <p:extLst>
      <p:ext uri="{BB962C8B-B14F-4D97-AF65-F5344CB8AC3E}">
        <p14:creationId xmlns:p14="http://schemas.microsoft.com/office/powerpoint/2010/main" val="88061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8EFA-2A43-42CD-5331-01AE02696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02476-604A-389D-26F8-2503D2B83BFA}"/>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5E7241A3-41EC-D80F-6FB0-98A9CB08AFC7}"/>
              </a:ext>
            </a:extLst>
          </p:cNvPr>
          <p:cNvSpPr>
            <a:spLocks noGrp="1"/>
          </p:cNvSpPr>
          <p:nvPr>
            <p:ph type="body" idx="1"/>
          </p:nvPr>
        </p:nvSpPr>
        <p:spPr/>
        <p:txBody>
          <a:bodyPr/>
          <a:lstStyle/>
          <a:p>
            <a:endParaRPr lang="en-IN" dirty="0"/>
          </a:p>
        </p:txBody>
      </p:sp>
      <p:graphicFrame>
        <p:nvGraphicFramePr>
          <p:cNvPr id="5" name="Table 4">
            <a:extLst>
              <a:ext uri="{FF2B5EF4-FFF2-40B4-BE49-F238E27FC236}">
                <a16:creationId xmlns:a16="http://schemas.microsoft.com/office/drawing/2014/main" id="{B9C2EEF8-F70B-63A8-E310-4B1F95AF51D3}"/>
              </a:ext>
            </a:extLst>
          </p:cNvPr>
          <p:cNvGraphicFramePr>
            <a:graphicFrameLocks noGrp="1"/>
          </p:cNvGraphicFramePr>
          <p:nvPr>
            <p:extLst>
              <p:ext uri="{D42A27DB-BD31-4B8C-83A1-F6EECF244321}">
                <p14:modId xmlns:p14="http://schemas.microsoft.com/office/powerpoint/2010/main" val="844978514"/>
              </p:ext>
            </p:extLst>
          </p:nvPr>
        </p:nvGraphicFramePr>
        <p:xfrm>
          <a:off x="421148" y="761999"/>
          <a:ext cx="10958052" cy="6202680"/>
        </p:xfrm>
        <a:graphic>
          <a:graphicData uri="http://schemas.openxmlformats.org/drawingml/2006/table">
            <a:tbl>
              <a:tblPr firstRow="1" bandRow="1">
                <a:tableStyleId>{3C2FFA5D-87B4-456A-9821-1D502468CF0F}</a:tableStyleId>
              </a:tblPr>
              <a:tblGrid>
                <a:gridCol w="599440">
                  <a:extLst>
                    <a:ext uri="{9D8B030D-6E8A-4147-A177-3AD203B41FA5}">
                      <a16:colId xmlns:a16="http://schemas.microsoft.com/office/drawing/2014/main" val="3785503400"/>
                    </a:ext>
                  </a:extLst>
                </a:gridCol>
                <a:gridCol w="1666240">
                  <a:extLst>
                    <a:ext uri="{9D8B030D-6E8A-4147-A177-3AD203B41FA5}">
                      <a16:colId xmlns:a16="http://schemas.microsoft.com/office/drawing/2014/main" val="1246016682"/>
                    </a:ext>
                  </a:extLst>
                </a:gridCol>
                <a:gridCol w="1452880">
                  <a:extLst>
                    <a:ext uri="{9D8B030D-6E8A-4147-A177-3AD203B41FA5}">
                      <a16:colId xmlns:a16="http://schemas.microsoft.com/office/drawing/2014/main" val="3396810647"/>
                    </a:ext>
                  </a:extLst>
                </a:gridCol>
                <a:gridCol w="2583917">
                  <a:extLst>
                    <a:ext uri="{9D8B030D-6E8A-4147-A177-3AD203B41FA5}">
                      <a16:colId xmlns:a16="http://schemas.microsoft.com/office/drawing/2014/main" val="3046597127"/>
                    </a:ext>
                  </a:extLst>
                </a:gridCol>
                <a:gridCol w="2154758">
                  <a:extLst>
                    <a:ext uri="{9D8B030D-6E8A-4147-A177-3AD203B41FA5}">
                      <a16:colId xmlns:a16="http://schemas.microsoft.com/office/drawing/2014/main" val="3711297263"/>
                    </a:ext>
                  </a:extLst>
                </a:gridCol>
                <a:gridCol w="2500817">
                  <a:extLst>
                    <a:ext uri="{9D8B030D-6E8A-4147-A177-3AD203B41FA5}">
                      <a16:colId xmlns:a16="http://schemas.microsoft.com/office/drawing/2014/main" val="1444908234"/>
                    </a:ext>
                  </a:extLst>
                </a:gridCol>
              </a:tblGrid>
              <a:tr h="388401">
                <a:tc>
                  <a:txBody>
                    <a:bodyPr/>
                    <a:lstStyle/>
                    <a:p>
                      <a:r>
                        <a:rPr lang="en-IN" sz="1000" dirty="0"/>
                        <a:t>Ref No</a:t>
                      </a:r>
                    </a:p>
                  </a:txBody>
                  <a:tcPr/>
                </a:tc>
                <a:tc>
                  <a:txBody>
                    <a:bodyPr/>
                    <a:lstStyle/>
                    <a:p>
                      <a:r>
                        <a:rPr lang="en-IN" sz="1000" dirty="0"/>
                        <a:t>Title of the paper</a:t>
                      </a:r>
                    </a:p>
                  </a:txBody>
                  <a:tcPr/>
                </a:tc>
                <a:tc>
                  <a:txBody>
                    <a:bodyPr/>
                    <a:lstStyle/>
                    <a:p>
                      <a:r>
                        <a:rPr lang="en-IN" sz="1000" dirty="0"/>
                        <a:t>Name of the Author and Year</a:t>
                      </a:r>
                    </a:p>
                  </a:txBody>
                  <a:tcPr/>
                </a:tc>
                <a:tc>
                  <a:txBody>
                    <a:bodyPr/>
                    <a:lstStyle/>
                    <a:p>
                      <a:r>
                        <a:rPr lang="en-IN" sz="1000" dirty="0"/>
                        <a:t>Method used</a:t>
                      </a:r>
                    </a:p>
                  </a:txBody>
                  <a:tcPr/>
                </a:tc>
                <a:tc>
                  <a:txBody>
                    <a:bodyPr/>
                    <a:lstStyle/>
                    <a:p>
                      <a:r>
                        <a:rPr lang="en-IN" sz="1000" dirty="0"/>
                        <a:t>Merits</a:t>
                      </a:r>
                    </a:p>
                  </a:txBody>
                  <a:tcPr/>
                </a:tc>
                <a:tc>
                  <a:txBody>
                    <a:bodyPr/>
                    <a:lstStyle/>
                    <a:p>
                      <a:r>
                        <a:rPr lang="en-IN" sz="1000" dirty="0"/>
                        <a:t>Demerits</a:t>
                      </a:r>
                    </a:p>
                  </a:txBody>
                  <a:tcPr/>
                </a:tc>
                <a:extLst>
                  <a:ext uri="{0D108BD9-81ED-4DB2-BD59-A6C34878D82A}">
                    <a16:rowId xmlns:a16="http://schemas.microsoft.com/office/drawing/2014/main" val="1255118781"/>
                  </a:ext>
                </a:extLst>
              </a:tr>
              <a:tr h="1046790">
                <a:tc>
                  <a:txBody>
                    <a:bodyPr/>
                    <a:lstStyle/>
                    <a:p>
                      <a:r>
                        <a:rPr lang="en-IN" dirty="0"/>
                        <a:t>6</a:t>
                      </a:r>
                    </a:p>
                  </a:txBody>
                  <a:tcPr/>
                </a:tc>
                <a:tc>
                  <a:txBody>
                    <a:bodyPr/>
                    <a:lstStyle/>
                    <a:p>
                      <a:r>
                        <a:rPr lang="en-US" sz="900" dirty="0"/>
                        <a:t>Explainable AI for Skin Disease Classification Using Grad-CAM and Transfer Learning to Identify Contours</a:t>
                      </a:r>
                      <a:endParaRPr lang="en-IN" sz="900" dirty="0"/>
                    </a:p>
                  </a:txBody>
                  <a:tcPr/>
                </a:tc>
                <a:tc>
                  <a:txBody>
                    <a:bodyPr/>
                    <a:lstStyle/>
                    <a:p>
                      <a:r>
                        <a:rPr lang="en-IN" sz="900" dirty="0"/>
                        <a:t>S M Saiful Islam Badhon, et al. (2024)</a:t>
                      </a:r>
                    </a:p>
                  </a:txBody>
                  <a:tcPr/>
                </a:tc>
                <a:tc>
                  <a:txBody>
                    <a:bodyPr/>
                    <a:lstStyle/>
                    <a:p>
                      <a:r>
                        <a:rPr lang="en-US" sz="900" dirty="0"/>
                        <a:t>Dataset </a:t>
                      </a:r>
                      <a:r>
                        <a:rPr lang="en-US" sz="900" dirty="0" err="1"/>
                        <a:t>used:</a:t>
                      </a:r>
                      <a:r>
                        <a:rPr lang="en-US" sz="900" b="0" i="0" u="none" strike="noStrike" cap="none" dirty="0" err="1">
                          <a:solidFill>
                            <a:schemeClr val="dk1"/>
                          </a:solidFill>
                          <a:effectLst/>
                          <a:latin typeface="+mn-lt"/>
                          <a:ea typeface="+mn-ea"/>
                          <a:cs typeface="+mn-cs"/>
                          <a:sym typeface="Arial"/>
                        </a:rPr>
                        <a:t>Self-collected</a:t>
                      </a:r>
                      <a:r>
                        <a:rPr lang="en-US" sz="900" b="0" i="0" u="none" strike="noStrike" cap="none" dirty="0">
                          <a:solidFill>
                            <a:schemeClr val="dk1"/>
                          </a:solidFill>
                          <a:effectLst/>
                          <a:latin typeface="+mn-lt"/>
                          <a:ea typeface="+mn-ea"/>
                          <a:cs typeface="+mn-cs"/>
                          <a:sym typeface="Arial"/>
                        </a:rPr>
                        <a:t> (5,182 images, rare skin diseases)</a:t>
                      </a:r>
                      <a:endParaRPr lang="en-US" sz="900" dirty="0"/>
                    </a:p>
                    <a:p>
                      <a:r>
                        <a:rPr lang="en-US" sz="900" dirty="0"/>
                        <a:t>Model </a:t>
                      </a:r>
                      <a:r>
                        <a:rPr lang="en-US" sz="900" dirty="0" err="1"/>
                        <a:t>used:</a:t>
                      </a:r>
                      <a:r>
                        <a:rPr lang="en-US" sz="900" b="0" i="0" u="none" strike="noStrike" cap="none" dirty="0" err="1">
                          <a:solidFill>
                            <a:schemeClr val="dk1"/>
                          </a:solidFill>
                          <a:effectLst/>
                          <a:latin typeface="+mn-lt"/>
                          <a:ea typeface="+mn-ea"/>
                          <a:cs typeface="+mn-cs"/>
                          <a:sym typeface="Arial"/>
                        </a:rPr>
                        <a:t>Transfer</a:t>
                      </a:r>
                      <a:r>
                        <a:rPr lang="en-US" sz="900" b="0" i="0" u="none" strike="noStrike" cap="none" dirty="0">
                          <a:solidFill>
                            <a:schemeClr val="dk1"/>
                          </a:solidFill>
                          <a:effectLst/>
                          <a:latin typeface="+mn-lt"/>
                          <a:ea typeface="+mn-ea"/>
                          <a:cs typeface="+mn-cs"/>
                          <a:sym typeface="Arial"/>
                        </a:rPr>
                        <a:t> learning: VGG-16, VGG-19, </a:t>
                      </a:r>
                      <a:r>
                        <a:rPr lang="en-US" sz="900" b="0" i="0" u="none" strike="noStrike" cap="none" dirty="0" err="1">
                          <a:solidFill>
                            <a:schemeClr val="dk1"/>
                          </a:solidFill>
                          <a:effectLst/>
                          <a:latin typeface="+mn-lt"/>
                          <a:ea typeface="+mn-ea"/>
                          <a:cs typeface="+mn-cs"/>
                          <a:sym typeface="Arial"/>
                        </a:rPr>
                        <a:t>GoogleNet</a:t>
                      </a:r>
                      <a:r>
                        <a:rPr lang="en-US" sz="900" b="0" i="0" u="none" strike="noStrike" cap="none" dirty="0">
                          <a:solidFill>
                            <a:schemeClr val="dk1"/>
                          </a:solidFill>
                          <a:effectLst/>
                          <a:latin typeface="+mn-lt"/>
                          <a:ea typeface="+mn-ea"/>
                          <a:cs typeface="+mn-cs"/>
                          <a:sym typeface="Arial"/>
                        </a:rPr>
                        <a:t>, Inception, </a:t>
                      </a:r>
                      <a:r>
                        <a:rPr lang="en-US" sz="900" b="0" i="0" u="none" strike="noStrike" cap="none" dirty="0" err="1">
                          <a:solidFill>
                            <a:schemeClr val="dk1"/>
                          </a:solidFill>
                          <a:effectLst/>
                          <a:latin typeface="+mn-lt"/>
                          <a:ea typeface="+mn-ea"/>
                          <a:cs typeface="+mn-cs"/>
                          <a:sym typeface="Arial"/>
                        </a:rPr>
                        <a:t>Xception</a:t>
                      </a:r>
                      <a:r>
                        <a:rPr lang="en-US" sz="900" b="0" i="0" u="none" strike="noStrike" cap="none" dirty="0">
                          <a:solidFill>
                            <a:schemeClr val="dk1"/>
                          </a:solidFill>
                          <a:effectLst/>
                          <a:latin typeface="+mn-lt"/>
                          <a:ea typeface="+mn-ea"/>
                          <a:cs typeface="+mn-cs"/>
                          <a:sym typeface="Arial"/>
                        </a:rPr>
                        <a:t>; best: VGG-16 (with augmentation)</a:t>
                      </a:r>
                      <a:endParaRPr lang="en-US" sz="900" dirty="0"/>
                    </a:p>
                    <a:p>
                      <a:r>
                        <a:rPr lang="en-US" sz="900" dirty="0"/>
                        <a:t>Accuracy%:</a:t>
                      </a:r>
                      <a:r>
                        <a:rPr lang="en-US" sz="900" b="0" i="0" u="none" strike="noStrike" cap="none" dirty="0">
                          <a:solidFill>
                            <a:schemeClr val="dk1"/>
                          </a:solidFill>
                          <a:effectLst/>
                          <a:latin typeface="+mn-lt"/>
                          <a:ea typeface="+mn-ea"/>
                          <a:cs typeface="+mn-cs"/>
                          <a:sym typeface="Arial"/>
                        </a:rPr>
                        <a:t>97.07% (VGG-16, balanced), 95.00% (VGG-19, imbalanced)</a:t>
                      </a:r>
                      <a:endParaRPr lang="en-US" sz="900" dirty="0"/>
                    </a:p>
                  </a:txBody>
                  <a:tcPr/>
                </a:tc>
                <a:tc>
                  <a:txBody>
                    <a:bodyPr/>
                    <a:lstStyle/>
                    <a:p>
                      <a:r>
                        <a:rPr lang="en-US" sz="900" dirty="0"/>
                        <a:t>Improves trust and interpretability by using Grad-CAM to create visual heatmaps that explain the model's predictions.</a:t>
                      </a:r>
                      <a:endParaRPr lang="en-IN" sz="9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00" dirty="0"/>
                        <a:t>The performance of some tested models was very poor on imbalanced data before proper data augmentation was applied.</a:t>
                      </a:r>
                    </a:p>
                    <a:p>
                      <a:endParaRPr lang="en-IN" sz="900" dirty="0"/>
                    </a:p>
                  </a:txBody>
                  <a:tcPr/>
                </a:tc>
                <a:extLst>
                  <a:ext uri="{0D108BD9-81ED-4DB2-BD59-A6C34878D82A}">
                    <a16:rowId xmlns:a16="http://schemas.microsoft.com/office/drawing/2014/main" val="2353411326"/>
                  </a:ext>
                </a:extLst>
              </a:tr>
              <a:tr h="1030756">
                <a:tc>
                  <a:txBody>
                    <a:bodyPr/>
                    <a:lstStyle/>
                    <a:p>
                      <a:r>
                        <a:rPr lang="en-IN" dirty="0"/>
                        <a:t>7</a:t>
                      </a:r>
                    </a:p>
                  </a:txBody>
                  <a:tcPr/>
                </a:tc>
                <a:tc>
                  <a:txBody>
                    <a:bodyPr/>
                    <a:lstStyle/>
                    <a:p>
                      <a:r>
                        <a:rPr lang="en-US" sz="900" dirty="0"/>
                        <a:t>EFFICACY OF SMARTPHONE-COMPATIBLE OPTICAL INSTRUMENT FOR ASSESSING MELANOCYTIC NEVI FOR MALIGNANCY</a:t>
                      </a:r>
                      <a:endParaRPr lang="en-IN" sz="900" dirty="0"/>
                    </a:p>
                  </a:txBody>
                  <a:tcPr/>
                </a:tc>
                <a:tc>
                  <a:txBody>
                    <a:bodyPr/>
                    <a:lstStyle/>
                    <a:p>
                      <a:r>
                        <a:rPr lang="nn-NO" sz="900" b="0" dirty="0"/>
                        <a:t>Gaydina TA, Dvornikova EG (2020) </a:t>
                      </a:r>
                      <a:endParaRPr lang="en-IN" sz="9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00" dirty="0"/>
                        <a:t>Dataset </a:t>
                      </a:r>
                      <a:r>
                        <a:rPr lang="en-US" sz="900" dirty="0" err="1"/>
                        <a:t>used:Clinical</a:t>
                      </a:r>
                      <a:r>
                        <a:rPr lang="en-US" sz="900" dirty="0"/>
                        <a:t> data, 7 patients, 74 surgically removed nevi.</a:t>
                      </a:r>
                    </a:p>
                    <a:p>
                      <a:r>
                        <a:rPr lang="en-US" sz="900" dirty="0"/>
                        <a:t>Model used:</a:t>
                      </a:r>
                      <a:r>
                        <a:rPr lang="en-IN" sz="900" dirty="0" err="1"/>
                        <a:t>Handyscope</a:t>
                      </a:r>
                      <a:r>
                        <a:rPr lang="en-IN" sz="900" dirty="0"/>
                        <a:t> optical system, Handyscope3 mobile application, Convolutional Neural Network (CNN).</a:t>
                      </a:r>
                      <a:endParaRPr lang="en-US" sz="900" dirty="0"/>
                    </a:p>
                    <a:p>
                      <a:r>
                        <a:rPr lang="en-US" sz="900" dirty="0"/>
                        <a:t>Accuracy%:</a:t>
                      </a:r>
                      <a:r>
                        <a:rPr lang="en-IN" sz="900" dirty="0"/>
                        <a:t>100%.</a:t>
                      </a:r>
                      <a:endParaRPr lang="en-US" sz="900" dirty="0"/>
                    </a:p>
                    <a:p>
                      <a:endParaRPr lang="en-US" sz="900" dirty="0"/>
                    </a:p>
                  </a:txBody>
                  <a:tcPr/>
                </a:tc>
                <a:tc>
                  <a:txBody>
                    <a:bodyPr/>
                    <a:lstStyle/>
                    <a:p>
                      <a:r>
                        <a:rPr lang="en-US" sz="900" dirty="0"/>
                        <a:t>The smartphone-compatible optical system is a real time-saver for both the physician and the patient, offering a portable and convenient method for monitoring melanocytic nevi</a:t>
                      </a:r>
                      <a:endParaRPr lang="en-IN" sz="900" dirty="0"/>
                    </a:p>
                  </a:txBody>
                  <a:tcPr/>
                </a:tc>
                <a:tc>
                  <a:txBody>
                    <a:bodyPr/>
                    <a:lstStyle/>
                    <a:p>
                      <a:r>
                        <a:rPr lang="en-US" sz="900" dirty="0"/>
                        <a:t>The primary disadvantage is that the AI assessment serves only as a screening tool, as histopathological verification of the diagnosis is still needed for confirmation.</a:t>
                      </a:r>
                      <a:endParaRPr lang="en-IN" sz="900" dirty="0"/>
                    </a:p>
                  </a:txBody>
                  <a:tcPr/>
                </a:tc>
                <a:extLst>
                  <a:ext uri="{0D108BD9-81ED-4DB2-BD59-A6C34878D82A}">
                    <a16:rowId xmlns:a16="http://schemas.microsoft.com/office/drawing/2014/main" val="1069789396"/>
                  </a:ext>
                </a:extLst>
              </a:tr>
              <a:tr h="1299649">
                <a:tc>
                  <a:txBody>
                    <a:bodyPr/>
                    <a:lstStyle/>
                    <a:p>
                      <a:r>
                        <a:rPr lang="en-IN" dirty="0"/>
                        <a:t>8</a:t>
                      </a:r>
                    </a:p>
                  </a:txBody>
                  <a:tcPr/>
                </a:tc>
                <a:tc>
                  <a:txBody>
                    <a:bodyPr/>
                    <a:lstStyle/>
                    <a:p>
                      <a:r>
                        <a:rPr lang="en-US" sz="900" dirty="0"/>
                        <a:t>AI in Oncology: Transforming Cancer Detection through Machine Learning and Deep Learning Applications </a:t>
                      </a:r>
                      <a:endParaRPr lang="en-IN" sz="900" dirty="0"/>
                    </a:p>
                  </a:txBody>
                  <a:tcPr/>
                </a:tc>
                <a:tc>
                  <a:txBody>
                    <a:bodyPr/>
                    <a:lstStyle/>
                    <a:p>
                      <a:r>
                        <a:rPr lang="en-IN" sz="900" dirty="0"/>
                        <a:t>Muhammad Aftab, Faisal Mehmood, </a:t>
                      </a:r>
                      <a:r>
                        <a:rPr lang="en-IN" sz="900" dirty="0" err="1"/>
                        <a:t>Chengjuan</a:t>
                      </a:r>
                      <a:r>
                        <a:rPr lang="en-IN" sz="900" dirty="0"/>
                        <a:t> Zhang, et al. (2025)</a:t>
                      </a:r>
                    </a:p>
                  </a:txBody>
                  <a:tcPr/>
                </a:tc>
                <a:tc>
                  <a:txBody>
                    <a:bodyPr/>
                    <a:lstStyle/>
                    <a:p>
                      <a:r>
                        <a:rPr lang="en-US" sz="900" dirty="0"/>
                        <a:t>Dataset used:</a:t>
                      </a:r>
                      <a:r>
                        <a:rPr lang="en-IN" sz="900" dirty="0"/>
                        <a:t>Medical Imaging, Genomic and Multi-omics Data, Pathology Images,</a:t>
                      </a:r>
                      <a:r>
                        <a:rPr lang="en-US" sz="900" b="1" dirty="0"/>
                        <a:t> ISIC 2016, 2017, 2019, 2020</a:t>
                      </a:r>
                      <a:r>
                        <a:rPr lang="en-US" sz="900" dirty="0"/>
                        <a:t>, </a:t>
                      </a:r>
                      <a:r>
                        <a:rPr lang="en-US" sz="900" b="1" dirty="0"/>
                        <a:t>PH2</a:t>
                      </a:r>
                      <a:r>
                        <a:rPr lang="en-US" sz="900" dirty="0"/>
                        <a:t>, </a:t>
                      </a:r>
                      <a:r>
                        <a:rPr lang="en-US" sz="900" b="1" dirty="0"/>
                        <a:t>HAM10000</a:t>
                      </a:r>
                      <a:r>
                        <a:rPr lang="en-US" sz="900" dirty="0"/>
                        <a:t>, and </a:t>
                      </a:r>
                      <a:r>
                        <a:rPr lang="en-US" sz="900" b="1" dirty="0" err="1"/>
                        <a:t>Xiangya</a:t>
                      </a:r>
                      <a:r>
                        <a:rPr lang="en-US" sz="900" b="1" dirty="0"/>
                        <a:t>-Derm</a:t>
                      </a:r>
                      <a:r>
                        <a:rPr lang="en-US" sz="900" dirty="0"/>
                        <a:t>.</a:t>
                      </a:r>
                    </a:p>
                    <a:p>
                      <a:r>
                        <a:rPr lang="en-US" sz="900" dirty="0"/>
                        <a:t>Model used:</a:t>
                      </a:r>
                      <a:r>
                        <a:rPr lang="en-IN" sz="900" b="1" dirty="0" err="1"/>
                        <a:t>AlexNet</a:t>
                      </a:r>
                      <a:r>
                        <a:rPr lang="en-IN" sz="900" b="1" dirty="0"/>
                        <a:t>, VGG16, VGG19, ResNet50V2, ResNet101, InceptionV3, InceptionResNetV2, </a:t>
                      </a:r>
                      <a:r>
                        <a:rPr lang="en-IN" sz="900" b="1" dirty="0" err="1"/>
                        <a:t>Xception</a:t>
                      </a:r>
                      <a:r>
                        <a:rPr lang="en-IN" sz="900" b="1" dirty="0"/>
                        <a:t>, DenseNet201, MobileNetV2, and </a:t>
                      </a:r>
                      <a:r>
                        <a:rPr lang="en-IN" sz="900" b="1" dirty="0" err="1"/>
                        <a:t>NASNet</a:t>
                      </a:r>
                      <a:r>
                        <a:rPr lang="en-IN" sz="900" dirty="0"/>
                        <a:t>.</a:t>
                      </a:r>
                    </a:p>
                    <a:p>
                      <a:r>
                        <a:rPr lang="en-US" sz="900" dirty="0"/>
                        <a:t>Accuracy%:</a:t>
                      </a:r>
                      <a:r>
                        <a:rPr lang="en-IN" sz="900" dirty="0"/>
                        <a:t>98.33% </a:t>
                      </a:r>
                      <a:endParaRPr lang="en-US" sz="900" dirty="0"/>
                    </a:p>
                  </a:txBody>
                  <a:tcPr/>
                </a:tc>
                <a:tc>
                  <a:txBody>
                    <a:bodyPr/>
                    <a:lstStyle/>
                    <a:p>
                      <a:r>
                        <a:rPr lang="en-IN" sz="900" dirty="0"/>
                        <a:t>Enhanced Diagnostic Precision, Early Detection, Efficiency and Cost Reduction</a:t>
                      </a:r>
                    </a:p>
                  </a:txBody>
                  <a:tcPr/>
                </a:tc>
                <a:tc>
                  <a:txBody>
                    <a:bodyPr/>
                    <a:lstStyle/>
                    <a:p>
                      <a:r>
                        <a:rPr lang="en-IN" sz="900" dirty="0"/>
                        <a:t>Bias in Data, Lack of Interpretability, Ethical and Regulatory Concerns</a:t>
                      </a:r>
                    </a:p>
                  </a:txBody>
                  <a:tcPr/>
                </a:tc>
                <a:extLst>
                  <a:ext uri="{0D108BD9-81ED-4DB2-BD59-A6C34878D82A}">
                    <a16:rowId xmlns:a16="http://schemas.microsoft.com/office/drawing/2014/main" val="3790606254"/>
                  </a:ext>
                </a:extLst>
              </a:tr>
              <a:tr h="1030756">
                <a:tc>
                  <a:txBody>
                    <a:bodyPr/>
                    <a:lstStyle/>
                    <a:p>
                      <a:r>
                        <a:rPr lang="en-IN" dirty="0"/>
                        <a:t>9</a:t>
                      </a:r>
                    </a:p>
                  </a:txBody>
                  <a:tcPr/>
                </a:tc>
                <a:tc>
                  <a:txBody>
                    <a:bodyPr/>
                    <a:lstStyle/>
                    <a:p>
                      <a:r>
                        <a:rPr lang="en-US" sz="900" dirty="0"/>
                        <a:t>AI-Powered IoMT Framework for Remote Triage and Diagnosis in Telemedicine Applications</a:t>
                      </a:r>
                      <a:endParaRPr lang="en-IN" sz="900" dirty="0"/>
                    </a:p>
                  </a:txBody>
                  <a:tcPr/>
                </a:tc>
                <a:tc>
                  <a:txBody>
                    <a:bodyPr/>
                    <a:lstStyle/>
                    <a:p>
                      <a:r>
                        <a:rPr lang="da-DK" sz="900" dirty="0"/>
                        <a:t>Sura Saad Mohsin, et al. (2025)</a:t>
                      </a:r>
                      <a:endParaRPr lang="en-IN" sz="900" dirty="0"/>
                    </a:p>
                  </a:txBody>
                  <a:tcPr/>
                </a:tc>
                <a:tc>
                  <a:txBody>
                    <a:bodyPr/>
                    <a:lstStyle/>
                    <a:p>
                      <a:r>
                        <a:rPr lang="en-US" sz="900" dirty="0"/>
                        <a:t>Dataset </a:t>
                      </a:r>
                      <a:r>
                        <a:rPr lang="en-US" sz="900" dirty="0" err="1"/>
                        <a:t>usedSimulated</a:t>
                      </a:r>
                      <a:r>
                        <a:rPr lang="en-US" sz="900" dirty="0"/>
                        <a:t>/virtual scenario data,</a:t>
                      </a:r>
                    </a:p>
                    <a:p>
                      <a:r>
                        <a:rPr lang="en-US" sz="900" dirty="0"/>
                        <a:t>250 </a:t>
                      </a:r>
                      <a:r>
                        <a:rPr lang="en-US" sz="900" dirty="0" err="1"/>
                        <a:t>patients,Chronic</a:t>
                      </a:r>
                      <a:r>
                        <a:rPr lang="en-US" sz="900" dirty="0"/>
                        <a:t> heart disease, Hypertension, Stroke</a:t>
                      </a:r>
                    </a:p>
                    <a:p>
                      <a:r>
                        <a:rPr lang="en-US" sz="900" dirty="0"/>
                        <a:t>Model AI-Powered IoMT Framework (RIDF)</a:t>
                      </a:r>
                    </a:p>
                    <a:p>
                      <a:r>
                        <a:rPr lang="en-US" sz="900" dirty="0"/>
                        <a:t>Rule-based algorithms</a:t>
                      </a:r>
                    </a:p>
                    <a:p>
                      <a:r>
                        <a:rPr lang="en-US" sz="900" dirty="0"/>
                        <a:t>IF-THEN rules</a:t>
                      </a:r>
                    </a:p>
                    <a:p>
                      <a:r>
                        <a:rPr lang="en-US" sz="900" dirty="0"/>
                        <a:t>Accuracy%:</a:t>
                      </a:r>
                      <a:r>
                        <a:rPr lang="en-IN" sz="900" dirty="0"/>
                        <a:t>98.4%</a:t>
                      </a:r>
                    </a:p>
                  </a:txBody>
                  <a:tcPr/>
                </a:tc>
                <a:tc>
                  <a:txBody>
                    <a:bodyPr/>
                    <a:lstStyle/>
                    <a:p>
                      <a:r>
                        <a:rPr lang="en-US" sz="900" dirty="0"/>
                        <a:t>The framework provides a more comprehensive assessment by integrating both sensory (e.g., SpO2, blood pressure) and non-sensory (e.g., medical history) patient data. It simultaneously performs both triage and preliminary diagnosis</a:t>
                      </a:r>
                      <a:endParaRPr lang="en-IN" sz="9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00" dirty="0"/>
                        <a:t>The evaluation was conducted in a simulated environment on a relatively small dataset of 250 patients and requires more validation in real-life clinical settings</a:t>
                      </a:r>
                      <a:endParaRPr lang="en-IN" sz="900" dirty="0"/>
                    </a:p>
                  </a:txBody>
                  <a:tcPr/>
                </a:tc>
                <a:extLst>
                  <a:ext uri="{0D108BD9-81ED-4DB2-BD59-A6C34878D82A}">
                    <a16:rowId xmlns:a16="http://schemas.microsoft.com/office/drawing/2014/main" val="1390481945"/>
                  </a:ext>
                </a:extLst>
              </a:tr>
              <a:tr h="1299649">
                <a:tc>
                  <a:txBody>
                    <a:bodyPr/>
                    <a:lstStyle/>
                    <a:p>
                      <a:r>
                        <a:rPr lang="en-IN"/>
                        <a:t>1</a:t>
                      </a:r>
                      <a:r>
                        <a:rPr lang="en-IN" dirty="0"/>
                        <a:t>0</a:t>
                      </a:r>
                    </a:p>
                  </a:txBody>
                  <a:tcPr/>
                </a:tc>
                <a:tc>
                  <a:txBody>
                    <a:bodyPr/>
                    <a:lstStyle/>
                    <a:p>
                      <a:r>
                        <a:rPr lang="en-US" sz="900" dirty="0"/>
                        <a:t>A comparative analysis of lesional skin, sentinel flap, and mucosal biopsies in assessing acute face transplant rejection</a:t>
                      </a:r>
                      <a:endParaRPr lang="en-IN" sz="900" dirty="0"/>
                    </a:p>
                  </a:txBody>
                  <a:tcPr/>
                </a:tc>
                <a:tc>
                  <a:txBody>
                    <a:bodyPr/>
                    <a:lstStyle/>
                    <a:p>
                      <a:r>
                        <a:rPr lang="fi-FI" sz="900" dirty="0"/>
                        <a:t>Martin Kauke-Navarro, et al. (2025)</a:t>
                      </a:r>
                      <a:endParaRPr lang="en-IN" sz="900" dirty="0"/>
                    </a:p>
                  </a:txBody>
                  <a:tcPr/>
                </a:tc>
                <a:tc>
                  <a:txBody>
                    <a:bodyPr/>
                    <a:lstStyle/>
                    <a:p>
                      <a:r>
                        <a:rPr lang="en-US" sz="900" dirty="0"/>
                        <a:t>Dataset used:</a:t>
                      </a:r>
                      <a:r>
                        <a:rPr lang="en-IN" sz="900" b="0" i="0" u="none" strike="noStrike" cap="none" dirty="0">
                          <a:solidFill>
                            <a:schemeClr val="dk1"/>
                          </a:solidFill>
                          <a:effectLst/>
                          <a:latin typeface="+mn-lt"/>
                          <a:ea typeface="+mn-ea"/>
                          <a:cs typeface="+mn-cs"/>
                          <a:sym typeface="Arial"/>
                        </a:rPr>
                        <a:t>Retrospective clinical: face transplant biopsies (47 mucosal/skin, 37 skin/sentinel flap)</a:t>
                      </a:r>
                      <a:endParaRPr lang="en-US" sz="900" dirty="0"/>
                    </a:p>
                    <a:p>
                      <a:r>
                        <a:rPr lang="en-US" sz="900" dirty="0"/>
                        <a:t>Model used:</a:t>
                      </a:r>
                      <a:r>
                        <a:rPr lang="en-IN" sz="900" b="0" i="0" u="none" strike="noStrike" cap="none" dirty="0">
                          <a:solidFill>
                            <a:schemeClr val="dk1"/>
                          </a:solidFill>
                          <a:effectLst/>
                          <a:latin typeface="+mn-lt"/>
                          <a:ea typeface="+mn-ea"/>
                          <a:cs typeface="+mn-cs"/>
                          <a:sym typeface="Arial"/>
                        </a:rPr>
                        <a:t>Statistical analysis (Pearson's, ROC)</a:t>
                      </a:r>
                      <a:endParaRPr lang="en-US" sz="900" dirty="0"/>
                    </a:p>
                    <a:p>
                      <a:r>
                        <a:rPr lang="en-US" sz="900" dirty="0"/>
                        <a:t>Accuracy%:</a:t>
                      </a:r>
                      <a:r>
                        <a:rPr lang="en-US" sz="900" b="0" i="0" u="none" strike="noStrike" cap="none" dirty="0">
                          <a:solidFill>
                            <a:schemeClr val="dk1"/>
                          </a:solidFill>
                          <a:effectLst/>
                          <a:latin typeface="+mn-lt"/>
                          <a:ea typeface="+mn-ea"/>
                          <a:cs typeface="+mn-cs"/>
                          <a:sym typeface="Arial"/>
                        </a:rPr>
                        <a:t>Sensitivity 0.85 (mucosa predicting skin rejection); no classification accuracy in AI sense</a:t>
                      </a:r>
                      <a:endParaRPr lang="en-US" sz="900" dirty="0"/>
                    </a:p>
                    <a:p>
                      <a:endParaRPr lang="en-US" sz="900" dirty="0"/>
                    </a:p>
                  </a:txBody>
                  <a:tcPr/>
                </a:tc>
                <a:tc>
                  <a:txBody>
                    <a:bodyPr/>
                    <a:lstStyle/>
                    <a:p>
                      <a:r>
                        <a:rPr lang="en-US" sz="900" dirty="0"/>
                        <a:t>The study concludes that </a:t>
                      </a:r>
                      <a:r>
                        <a:rPr lang="en-US" sz="900" b="1" dirty="0"/>
                        <a:t>mucosal biopsies are more sensitive</a:t>
                      </a:r>
                      <a:r>
                        <a:rPr lang="en-US" sz="900" dirty="0"/>
                        <a:t> and can detect rejection events missed by skin biopsies alone, suggesting they should be a routine part of monitoring.</a:t>
                      </a:r>
                      <a:endParaRPr lang="en-IN" sz="900" dirty="0"/>
                    </a:p>
                  </a:txBody>
                  <a:tcPr/>
                </a:tc>
                <a:tc>
                  <a:txBody>
                    <a:bodyPr/>
                    <a:lstStyle/>
                    <a:p>
                      <a:r>
                        <a:rPr lang="en-US" sz="900" dirty="0"/>
                        <a:t>The primary limitations are a </a:t>
                      </a:r>
                      <a:r>
                        <a:rPr lang="en-US" sz="900" b="1" dirty="0"/>
                        <a:t>very small sample size</a:t>
                      </a:r>
                      <a:r>
                        <a:rPr lang="en-US" sz="900" dirty="0"/>
                        <a:t> (nine patients), which restricts the generalizability of the findings, and that sentinel flaps were found to be unreliable for monitoring rejection.</a:t>
                      </a:r>
                      <a:endParaRPr lang="en-IN" sz="900" dirty="0"/>
                    </a:p>
                  </a:txBody>
                  <a:tcPr/>
                </a:tc>
                <a:extLst>
                  <a:ext uri="{0D108BD9-81ED-4DB2-BD59-A6C34878D82A}">
                    <a16:rowId xmlns:a16="http://schemas.microsoft.com/office/drawing/2014/main" val="3235765691"/>
                  </a:ext>
                </a:extLst>
              </a:tr>
            </a:tbl>
          </a:graphicData>
        </a:graphic>
      </p:graphicFrame>
    </p:spTree>
    <p:extLst>
      <p:ext uri="{BB962C8B-B14F-4D97-AF65-F5344CB8AC3E}">
        <p14:creationId xmlns:p14="http://schemas.microsoft.com/office/powerpoint/2010/main" val="1531590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a:t>
            </a:r>
            <a:endParaRPr dirty="0">
              <a:latin typeface="Cambria" panose="02040503050406030204" pitchFamily="18" charset="0"/>
              <a:ea typeface="Cambria" panose="02040503050406030204" pitchFamily="18" charset="0"/>
            </a:endParaRPr>
          </a:p>
        </p:txBody>
      </p:sp>
      <p:sp>
        <p:nvSpPr>
          <p:cNvPr id="6" name="Rectangle 3">
            <a:extLst>
              <a:ext uri="{FF2B5EF4-FFF2-40B4-BE49-F238E27FC236}">
                <a16:creationId xmlns:a16="http://schemas.microsoft.com/office/drawing/2014/main" id="{41860055-F4AC-4E06-C461-C2937C276A4C}"/>
              </a:ext>
            </a:extLst>
          </p:cNvPr>
          <p:cNvSpPr>
            <a:spLocks noGrp="1" noChangeArrowheads="1"/>
          </p:cNvSpPr>
          <p:nvPr>
            <p:ph type="body" idx="1"/>
          </p:nvPr>
        </p:nvSpPr>
        <p:spPr bwMode="auto">
          <a:xfrm>
            <a:off x="655638" y="1657281"/>
            <a:ext cx="704872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Build Performing Data Engineering and Preprocessing Pipelines.</a:t>
            </a:r>
          </a:p>
          <a:p>
            <a:pPr marL="0" marR="0" lvl="0" indent="0" algn="l" defTabSz="914400" rtl="0" eaLnBrk="0" fontAlgn="base" latinLnBrk="0" hangingPunct="0">
              <a:lnSpc>
                <a:spcPct val="200000"/>
              </a:lnSpc>
              <a:spcBef>
                <a:spcPct val="0"/>
              </a:spcBef>
              <a:spcAft>
                <a:spcPct val="0"/>
              </a:spcAft>
              <a:buClrTx/>
              <a:buSzTx/>
              <a:buFontTx/>
              <a:buChar char="•"/>
              <a:tabLst/>
            </a:pPr>
            <a:r>
              <a:rPr lang="en-US" altLang="en-US" sz="1800" dirty="0">
                <a:solidFill>
                  <a:schemeClr val="tx1"/>
                </a:solidFill>
                <a:latin typeface="Arial" panose="020B0604020202020204" pitchFamily="34" charset="0"/>
              </a:rPr>
              <a:t>Increase Multi-Class Diagnosis with High-Accuracy Deep Learning.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Deliver Intelligible User Interfaces and Clinical Decision Support.</a:t>
            </a:r>
          </a:p>
        </p:txBody>
      </p:sp>
    </p:spTree>
    <p:extLst>
      <p:ext uri="{BB962C8B-B14F-4D97-AF65-F5344CB8AC3E}">
        <p14:creationId xmlns:p14="http://schemas.microsoft.com/office/powerpoint/2010/main" val="2637979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0B6C0-E670-6DE3-A9CA-574E6324C7AF}"/>
              </a:ext>
            </a:extLst>
          </p:cNvPr>
          <p:cNvSpPr>
            <a:spLocks noGrp="1"/>
          </p:cNvSpPr>
          <p:nvPr>
            <p:ph type="title"/>
          </p:nvPr>
        </p:nvSpPr>
        <p:spPr/>
        <p:txBody>
          <a:bodyPr/>
          <a:lstStyle/>
          <a:p>
            <a:r>
              <a:rPr lang="en-IN" dirty="0"/>
              <a:t>Classes</a:t>
            </a:r>
          </a:p>
        </p:txBody>
      </p:sp>
      <p:sp>
        <p:nvSpPr>
          <p:cNvPr id="4" name="Rectangle 1">
            <a:extLst>
              <a:ext uri="{FF2B5EF4-FFF2-40B4-BE49-F238E27FC236}">
                <a16:creationId xmlns:a16="http://schemas.microsoft.com/office/drawing/2014/main" id="{D2545308-A81D-31EF-17A2-A02A1A75E8B5}"/>
              </a:ext>
            </a:extLst>
          </p:cNvPr>
          <p:cNvSpPr>
            <a:spLocks noGrp="1" noChangeArrowheads="1"/>
          </p:cNvSpPr>
          <p:nvPr>
            <p:ph type="body"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Melanocytic Nevi</a:t>
            </a:r>
            <a:r>
              <a:rPr kumimoji="0" lang="en-US" altLang="en-US" sz="1800" b="0" i="0" u="none" strike="noStrike" cap="none" normalizeH="0" baseline="0" dirty="0">
                <a:ln>
                  <a:noFill/>
                </a:ln>
                <a:solidFill>
                  <a:schemeClr val="tx1"/>
                </a:solidFill>
                <a:effectLst/>
                <a:latin typeface="Arial" panose="020B0604020202020204" pitchFamily="34" charset="0"/>
              </a:rPr>
              <a:t> (NV)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Benign Keratosis-like Lesions</a:t>
            </a:r>
            <a:r>
              <a:rPr kumimoji="0" lang="en-US" altLang="en-US" sz="1800" b="0" i="0" u="none" strike="noStrike" cap="none" normalizeH="0" baseline="0" dirty="0">
                <a:ln>
                  <a:noFill/>
                </a:ln>
                <a:solidFill>
                  <a:schemeClr val="tx1"/>
                </a:solidFill>
                <a:effectLst/>
                <a:latin typeface="Arial" panose="020B0604020202020204" pitchFamily="34" charset="0"/>
              </a:rPr>
              <a:t> (BKL)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Dermatofibroma</a:t>
            </a:r>
            <a:r>
              <a:rPr kumimoji="0" lang="en-US" altLang="en-US" sz="1800" b="0" i="0" u="none" strike="noStrike" cap="none" normalizeH="0" baseline="0" dirty="0">
                <a:ln>
                  <a:noFill/>
                </a:ln>
                <a:solidFill>
                  <a:schemeClr val="tx1"/>
                </a:solidFill>
                <a:effectLst/>
                <a:latin typeface="Arial" panose="020B0604020202020204" pitchFamily="34" charset="0"/>
              </a:rPr>
              <a:t> (DF)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Vascular Lesions</a:t>
            </a:r>
            <a:r>
              <a:rPr kumimoji="0" lang="en-US" altLang="en-US" sz="1800" b="0" i="0" u="none" strike="noStrike" cap="none" normalizeH="0" baseline="0" dirty="0">
                <a:ln>
                  <a:noFill/>
                </a:ln>
                <a:solidFill>
                  <a:schemeClr val="tx1"/>
                </a:solidFill>
                <a:effectLst/>
                <a:latin typeface="Arial" panose="020B0604020202020204" pitchFamily="34" charset="0"/>
              </a:rPr>
              <a:t> (VASC)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Actinic Keratoses</a:t>
            </a:r>
            <a:r>
              <a:rPr kumimoji="0" lang="en-US" altLang="en-US" sz="1800" b="0" i="0" u="none" strike="noStrike" cap="none" normalizeH="0" baseline="0" dirty="0">
                <a:ln>
                  <a:noFill/>
                </a:ln>
                <a:solidFill>
                  <a:schemeClr val="tx1"/>
                </a:solidFill>
                <a:effectLst/>
                <a:latin typeface="Arial" panose="020B0604020202020204" pitchFamily="34" charset="0"/>
              </a:rPr>
              <a:t> (AKIEC)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Basal-Cell Carcinoma</a:t>
            </a:r>
            <a:r>
              <a:rPr kumimoji="0" lang="en-US" altLang="en-US" sz="1800" b="0" i="0" u="none" strike="noStrike" cap="none" normalizeH="0" baseline="0" dirty="0">
                <a:ln>
                  <a:noFill/>
                </a:ln>
                <a:solidFill>
                  <a:schemeClr val="tx1"/>
                </a:solidFill>
                <a:effectLst/>
                <a:latin typeface="Arial" panose="020B0604020202020204" pitchFamily="34" charset="0"/>
              </a:rPr>
              <a:t> (BCC)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Melanoma</a:t>
            </a:r>
            <a:r>
              <a:rPr kumimoji="0" lang="en-US" altLang="en-US" sz="1800" b="0" i="0" u="none" strike="noStrike" cap="none" normalizeH="0" baseline="0" dirty="0">
                <a:ln>
                  <a:noFill/>
                </a:ln>
                <a:solidFill>
                  <a:schemeClr val="tx1"/>
                </a:solidFill>
                <a:effectLst/>
                <a:latin typeface="Arial" panose="020B0604020202020204" pitchFamily="34" charset="0"/>
              </a:rPr>
              <a:t> (MEL)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1074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2816-3A57-1B16-C0D1-067D0FC01C2E}"/>
              </a:ext>
            </a:extLst>
          </p:cNvPr>
          <p:cNvSpPr>
            <a:spLocks noGrp="1"/>
          </p:cNvSpPr>
          <p:nvPr>
            <p:ph type="title"/>
          </p:nvPr>
        </p:nvSpPr>
        <p:spPr/>
        <p:txBody>
          <a:bodyPr/>
          <a:lstStyle/>
          <a:p>
            <a:r>
              <a:rPr lang="en-IN" dirty="0">
                <a:solidFill>
                  <a:schemeClr val="bg2"/>
                </a:solidFill>
              </a:rPr>
              <a:t>Existing Methods and Drawbacks</a:t>
            </a:r>
          </a:p>
        </p:txBody>
      </p:sp>
      <p:sp>
        <p:nvSpPr>
          <p:cNvPr id="10" name="Rectangle 3">
            <a:extLst>
              <a:ext uri="{FF2B5EF4-FFF2-40B4-BE49-F238E27FC236}">
                <a16:creationId xmlns:a16="http://schemas.microsoft.com/office/drawing/2014/main" id="{1207D47C-08D3-7834-078E-9FE67B0C7BDA}"/>
              </a:ext>
            </a:extLst>
          </p:cNvPr>
          <p:cNvSpPr>
            <a:spLocks noGrp="1" noChangeArrowheads="1"/>
          </p:cNvSpPr>
          <p:nvPr>
            <p:ph type="body" idx="1"/>
          </p:nvPr>
        </p:nvSpPr>
        <p:spPr bwMode="auto">
          <a:xfrm>
            <a:off x="432620" y="1742988"/>
            <a:ext cx="586891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EXISTING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In-person visual examination by a general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practitioner or a dermatologist.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of specialized tools like a dermatoscope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for magnified inspection.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Reliance on clinician's personal experience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pattern recognition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Invasive skin biopsy and subsequent histopathological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analysis for definitive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Consultation of medical textbooks and static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online databases by non-specialists.</a:t>
            </a:r>
          </a:p>
        </p:txBody>
      </p:sp>
      <p:sp>
        <p:nvSpPr>
          <p:cNvPr id="13" name="Rectangle 8">
            <a:extLst>
              <a:ext uri="{FF2B5EF4-FFF2-40B4-BE49-F238E27FC236}">
                <a16:creationId xmlns:a16="http://schemas.microsoft.com/office/drawing/2014/main" id="{5EBC87CD-9381-3233-D672-678C3BF4B23D}"/>
              </a:ext>
            </a:extLst>
          </p:cNvPr>
          <p:cNvSpPr>
            <a:spLocks noGrp="1" noChangeArrowheads="1"/>
          </p:cNvSpPr>
          <p:nvPr>
            <p:ph type="body" idx="2"/>
          </p:nvPr>
        </p:nvSpPr>
        <p:spPr bwMode="auto">
          <a:xfrm>
            <a:off x="6096000" y="1742988"/>
            <a:ext cx="595868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DRAWBACKS: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Limited access to specialists and long patient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wait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risk of misdiagnosis due to subjective,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experience-dependent evaluations.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Slow diagnostic process, with biopsy results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causing critical treatment delays.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Procedures like biopsies are invasive, costly,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can cause scarring.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Not scalable for rapid, large-scale population screening.</a:t>
            </a:r>
          </a:p>
        </p:txBody>
      </p:sp>
    </p:spTree>
    <p:extLst>
      <p:ext uri="{BB962C8B-B14F-4D97-AF65-F5344CB8AC3E}">
        <p14:creationId xmlns:p14="http://schemas.microsoft.com/office/powerpoint/2010/main" val="93579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B5C4F-0570-ABDE-969E-B3B77E017F12}"/>
              </a:ext>
            </a:extLst>
          </p:cNvPr>
          <p:cNvSpPr>
            <a:spLocks noGrp="1"/>
          </p:cNvSpPr>
          <p:nvPr>
            <p:ph type="title"/>
          </p:nvPr>
        </p:nvSpPr>
        <p:spPr/>
        <p:txBody>
          <a:bodyPr/>
          <a:lstStyle/>
          <a:p>
            <a:r>
              <a:rPr lang="en-IN" dirty="0"/>
              <a:t>Proposed Methods and Feasible Study</a:t>
            </a:r>
          </a:p>
        </p:txBody>
      </p:sp>
      <p:sp>
        <p:nvSpPr>
          <p:cNvPr id="6" name="Rectangle 1">
            <a:extLst>
              <a:ext uri="{FF2B5EF4-FFF2-40B4-BE49-F238E27FC236}">
                <a16:creationId xmlns:a16="http://schemas.microsoft.com/office/drawing/2014/main" id="{8569A08F-0BE5-5760-6B02-0C3DB2E5138F}"/>
              </a:ext>
            </a:extLst>
          </p:cNvPr>
          <p:cNvSpPr>
            <a:spLocks noGrp="1" noChangeArrowheads="1"/>
          </p:cNvSpPr>
          <p:nvPr>
            <p:ph type="body" idx="1"/>
          </p:nvPr>
        </p:nvSpPr>
        <p:spPr bwMode="auto">
          <a:xfrm>
            <a:off x="1196258" y="1132310"/>
            <a:ext cx="7369325" cy="4844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76200" indent="0">
              <a:buNone/>
            </a:pPr>
            <a:r>
              <a:rPr lang="en-US" sz="1400" b="1" dirty="0">
                <a:latin typeface="Arial" panose="020B0604020202020204" pitchFamily="34" charset="0"/>
                <a:cs typeface="Arial" panose="020B0604020202020204" pitchFamily="34" charset="0"/>
              </a:rPr>
              <a:t>Proposed Method</a:t>
            </a: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AI-Powered Diagnostic Tool</a:t>
            </a:r>
            <a:r>
              <a:rPr lang="en-US" sz="1400" dirty="0">
                <a:latin typeface="Arial" panose="020B0604020202020204" pitchFamily="34" charset="0"/>
                <a:cs typeface="Arial" panose="020B0604020202020204" pitchFamily="34" charset="0"/>
              </a:rPr>
              <a:t>: A digital platform that utilizes a deep learning model</a:t>
            </a:r>
          </a:p>
          <a:p>
            <a:pPr marL="76200" indent="0">
              <a:buNone/>
            </a:pPr>
            <a:r>
              <a:rPr lang="en-US" sz="1400" dirty="0">
                <a:latin typeface="Arial" panose="020B0604020202020204" pitchFamily="34" charset="0"/>
                <a:cs typeface="Arial" panose="020B0604020202020204" pitchFamily="34" charset="0"/>
              </a:rPr>
              <a:t> to analyze and classify skin lesion images.</a:t>
            </a:r>
          </a:p>
          <a:p>
            <a:r>
              <a:rPr lang="en-US" sz="1400" b="1" dirty="0">
                <a:latin typeface="Arial" panose="020B0604020202020204" pitchFamily="34" charset="0"/>
                <a:cs typeface="Arial" panose="020B0604020202020204" pitchFamily="34" charset="0"/>
              </a:rPr>
              <a:t>User-Friendly Clinical Interface</a:t>
            </a:r>
            <a:r>
              <a:rPr lang="en-US" sz="1400" dirty="0">
                <a:latin typeface="Arial" panose="020B0604020202020204" pitchFamily="34" charset="0"/>
                <a:cs typeface="Arial" panose="020B0604020202020204" pitchFamily="34" charset="0"/>
              </a:rPr>
              <a:t>: A secure web or mobile application for seamless </a:t>
            </a:r>
          </a:p>
          <a:p>
            <a:pPr marL="76200" indent="0">
              <a:buNone/>
            </a:pPr>
            <a:r>
              <a:rPr lang="en-US" sz="1400" dirty="0">
                <a:latin typeface="Arial" panose="020B0604020202020204" pitchFamily="34" charset="0"/>
                <a:cs typeface="Arial" panose="020B0604020202020204" pitchFamily="34" charset="0"/>
              </a:rPr>
              <a:t>image submission and review of diagnostic results by healthcare professionals</a:t>
            </a:r>
          </a:p>
          <a:p>
            <a:pPr marL="76200" indent="0">
              <a:buNone/>
            </a:pPr>
            <a:r>
              <a:rPr lang="en-US" sz="1400" b="1" dirty="0">
                <a:latin typeface="Arial" panose="020B0604020202020204" pitchFamily="34" charset="0"/>
                <a:cs typeface="Arial" panose="020B0604020202020204" pitchFamily="34" charset="0"/>
              </a:rPr>
              <a:t>Feasible Study</a:t>
            </a:r>
          </a:p>
          <a:p>
            <a:pPr marL="76200" indent="0">
              <a:buNone/>
            </a:pPr>
            <a:r>
              <a:rPr lang="en-US" sz="1400" b="1" dirty="0">
                <a:latin typeface="Arial" panose="020B0604020202020204" pitchFamily="34" charset="0"/>
                <a:cs typeface="Arial" panose="020B0604020202020204" pitchFamily="34" charset="0"/>
              </a:rPr>
              <a:t>1.Technology</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Utilizes established and widely available technologies like Python, deep learning </a:t>
            </a:r>
          </a:p>
          <a:p>
            <a:pPr marL="76200" indent="0">
              <a:buNone/>
            </a:pPr>
            <a:r>
              <a:rPr lang="en-US" sz="1400" dirty="0">
                <a:latin typeface="Arial" panose="020B0604020202020204" pitchFamily="34" charset="0"/>
                <a:cs typeface="Arial" panose="020B0604020202020204" pitchFamily="34" charset="0"/>
              </a:rPr>
              <a:t>frameworks (TensorFlow/</a:t>
            </a:r>
            <a:r>
              <a:rPr lang="en-US" sz="1400" dirty="0" err="1">
                <a:latin typeface="Arial" panose="020B0604020202020204" pitchFamily="34" charset="0"/>
                <a:cs typeface="Arial" panose="020B0604020202020204" pitchFamily="34" charset="0"/>
              </a:rPr>
              <a:t>PyTorch</a:t>
            </a:r>
            <a:r>
              <a:rPr lang="en-US" sz="1400" dirty="0">
                <a:latin typeface="Arial" panose="020B0604020202020204" pitchFamily="34" charset="0"/>
                <a:cs typeface="Arial" panose="020B0604020202020204" pitchFamily="34" charset="0"/>
              </a:rPr>
              <a:t>), and cloud services.</a:t>
            </a:r>
          </a:p>
          <a:p>
            <a:pPr marL="76200" indent="0">
              <a:buNone/>
            </a:pPr>
            <a:r>
              <a:rPr lang="en-US" sz="1400" b="1" dirty="0">
                <a:latin typeface="Arial" panose="020B0604020202020204" pitchFamily="34" charset="0"/>
                <a:cs typeface="Arial" panose="020B0604020202020204" pitchFamily="34" charset="0"/>
              </a:rPr>
              <a:t>2.Cost Effectiveness</a:t>
            </a:r>
          </a:p>
          <a:p>
            <a:r>
              <a:rPr lang="en-US" sz="1400" dirty="0">
                <a:latin typeface="Arial" panose="020B0604020202020204" pitchFamily="34" charset="0"/>
                <a:cs typeface="Arial" panose="020B0604020202020204" pitchFamily="34" charset="0"/>
              </a:rPr>
              <a:t>Leverages open-source deep learning libraries and scalable cloud-based solutions to</a:t>
            </a:r>
          </a:p>
          <a:p>
            <a:pPr marL="76200" indent="0">
              <a:buNone/>
            </a:pPr>
            <a:r>
              <a:rPr lang="en-US" sz="1400" dirty="0">
                <a:latin typeface="Arial" panose="020B0604020202020204" pitchFamily="34" charset="0"/>
                <a:cs typeface="Arial" panose="020B0604020202020204" pitchFamily="34" charset="0"/>
              </a:rPr>
              <a:t> minimize development and infrastructure costs.</a:t>
            </a:r>
          </a:p>
          <a:p>
            <a:pPr marL="76200" indent="0">
              <a:buNone/>
            </a:pPr>
            <a:r>
              <a:rPr lang="en-US" sz="1400" b="1" dirty="0">
                <a:latin typeface="Arial" panose="020B0604020202020204" pitchFamily="34" charset="0"/>
                <a:cs typeface="Arial" panose="020B0604020202020204" pitchFamily="34" charset="0"/>
              </a:rPr>
              <a:t>3.Resources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Requires minimal human resources for operation after initial setup;</a:t>
            </a:r>
          </a:p>
          <a:p>
            <a:pPr marL="76200" indent="0">
              <a:buNone/>
            </a:pPr>
            <a:r>
              <a:rPr lang="en-US" sz="1400" dirty="0">
                <a:latin typeface="Arial" panose="020B0604020202020204" pitchFamily="34" charset="0"/>
                <a:cs typeface="Arial" panose="020B0604020202020204" pitchFamily="34" charset="0"/>
              </a:rPr>
              <a:t> the automated analysis can be maintained by a small technical team.</a:t>
            </a:r>
          </a:p>
          <a:p>
            <a:r>
              <a:rPr lang="en-US" sz="1400" dirty="0">
                <a:latin typeface="Arial" panose="020B0604020202020204" pitchFamily="34" charset="0"/>
                <a:cs typeface="Arial" panose="020B0604020202020204" pitchFamily="34" charset="0"/>
              </a:rPr>
              <a:t>Highly scalable to accommodate a growing number of users and diagnostic</a:t>
            </a:r>
          </a:p>
          <a:p>
            <a:pPr marL="76200" indent="0">
              <a:buNone/>
            </a:pPr>
            <a:r>
              <a:rPr lang="en-US" sz="1400" dirty="0">
                <a:latin typeface="Arial" panose="020B0604020202020204" pitchFamily="34" charset="0"/>
                <a:cs typeface="Arial" panose="020B0604020202020204" pitchFamily="34" charset="0"/>
              </a:rPr>
              <a:t> requests using modern cloud infrastructure.</a:t>
            </a:r>
          </a:p>
        </p:txBody>
      </p:sp>
    </p:spTree>
    <p:extLst>
      <p:ext uri="{BB962C8B-B14F-4D97-AF65-F5344CB8AC3E}">
        <p14:creationId xmlns:p14="http://schemas.microsoft.com/office/powerpoint/2010/main" val="1976233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2277-36F6-5073-9DBC-9A69E27E421B}"/>
              </a:ext>
            </a:extLst>
          </p:cNvPr>
          <p:cNvSpPr>
            <a:spLocks noGrp="1"/>
          </p:cNvSpPr>
          <p:nvPr>
            <p:ph type="title"/>
          </p:nvPr>
        </p:nvSpPr>
        <p:spPr/>
        <p:txBody>
          <a:bodyPr/>
          <a:lstStyle/>
          <a:p>
            <a:r>
              <a:rPr lang="en-IN" dirty="0"/>
              <a:t>Architecture Diagram</a:t>
            </a:r>
          </a:p>
        </p:txBody>
      </p:sp>
      <p:sp>
        <p:nvSpPr>
          <p:cNvPr id="3" name="Text Placeholder 2">
            <a:extLst>
              <a:ext uri="{FF2B5EF4-FFF2-40B4-BE49-F238E27FC236}">
                <a16:creationId xmlns:a16="http://schemas.microsoft.com/office/drawing/2014/main" id="{8C54D9CC-DC49-1B30-2363-946559A1A9E4}"/>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A84EA4F4-508E-3404-6C0A-292CA1359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642" y="1925319"/>
            <a:ext cx="6504773" cy="3962133"/>
          </a:xfrm>
          <a:prstGeom prst="rect">
            <a:avLst/>
          </a:prstGeom>
        </p:spPr>
      </p:pic>
    </p:spTree>
    <p:extLst>
      <p:ext uri="{BB962C8B-B14F-4D97-AF65-F5344CB8AC3E}">
        <p14:creationId xmlns:p14="http://schemas.microsoft.com/office/powerpoint/2010/main" val="137141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995072-BF2A-A19D-4C51-DD908E7CDB00}"/>
              </a:ext>
            </a:extLst>
          </p:cNvPr>
          <p:cNvSpPr>
            <a:spLocks noGrp="1"/>
          </p:cNvSpPr>
          <p:nvPr>
            <p:ph type="title"/>
          </p:nvPr>
        </p:nvSpPr>
        <p:spPr/>
        <p:txBody>
          <a:bodyPr/>
          <a:lstStyle/>
          <a:p>
            <a:r>
              <a:rPr lang="en-US" dirty="0"/>
              <a:t>Block Diagram</a:t>
            </a:r>
            <a:endParaRPr lang="en-IN" dirty="0"/>
          </a:p>
        </p:txBody>
      </p:sp>
      <p:pic>
        <p:nvPicPr>
          <p:cNvPr id="2" name="Picture 1">
            <a:extLst>
              <a:ext uri="{FF2B5EF4-FFF2-40B4-BE49-F238E27FC236}">
                <a16:creationId xmlns:a16="http://schemas.microsoft.com/office/drawing/2014/main" id="{95853555-1AF3-56D6-3F5E-33F0C3814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330" y="1796717"/>
            <a:ext cx="5641340" cy="3978442"/>
          </a:xfrm>
          <a:prstGeom prst="rect">
            <a:avLst/>
          </a:prstGeom>
        </p:spPr>
      </p:pic>
    </p:spTree>
    <p:extLst>
      <p:ext uri="{BB962C8B-B14F-4D97-AF65-F5344CB8AC3E}">
        <p14:creationId xmlns:p14="http://schemas.microsoft.com/office/powerpoint/2010/main" val="3336120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CCFDB-0E35-E185-183B-D0292FC8C31E}"/>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D358E6D6-627F-4EC0-C9EB-66F0821D6B31}"/>
              </a:ext>
            </a:extLst>
          </p:cNvPr>
          <p:cNvSpPr>
            <a:spLocks noGrp="1"/>
          </p:cNvSpPr>
          <p:nvPr>
            <p:ph type="body" idx="1"/>
          </p:nvPr>
        </p:nvSpPr>
        <p:spPr/>
        <p:txBody>
          <a:bodyPr>
            <a:normAutofit/>
          </a:bodyPr>
          <a:lstStyle/>
          <a:p>
            <a:pPr marL="76200" indent="0">
              <a:buNone/>
            </a:pPr>
            <a:r>
              <a:rPr lang="en-US" dirty="0">
                <a:latin typeface="Arial" panose="020B0604020202020204" pitchFamily="34" charset="0"/>
                <a:cs typeface="Arial" panose="020B0604020202020204" pitchFamily="34" charset="0"/>
              </a:rPr>
              <a:t>Our proposed system is designed with a modular architecture to ensure clarity and scalability. The key modules are:</a:t>
            </a:r>
          </a:p>
          <a:p>
            <a:r>
              <a:rPr lang="en-US" b="1" dirty="0">
                <a:latin typeface="Arial" panose="020B0604020202020204" pitchFamily="34" charset="0"/>
                <a:cs typeface="Arial" panose="020B0604020202020204" pitchFamily="34" charset="0"/>
              </a:rPr>
              <a:t>User Interface (UI) &amp; Image Upload Module: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Provides a clean, user-friendly web interface for healthcare workers to securely upload an image of a patient's skin lesion.</a:t>
            </a:r>
          </a:p>
          <a:p>
            <a:br>
              <a:rPr lang="en-US" b="1" dirty="0">
                <a:latin typeface="Arial" panose="020B0604020202020204" pitchFamily="34" charset="0"/>
                <a:cs typeface="Arial" panose="020B0604020202020204" pitchFamily="34" charset="0"/>
              </a:rPr>
            </a:br>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Image Preprocessing Module:</a:t>
            </a:r>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Functionality:</a:t>
            </a:r>
            <a:r>
              <a:rPr lang="en-US" dirty="0">
                <a:latin typeface="Arial" panose="020B0604020202020204" pitchFamily="34" charset="0"/>
                <a:cs typeface="Arial" panose="020B0604020202020204" pitchFamily="34" charset="0"/>
              </a:rPr>
              <a:t> Automatically receives the uploaded image and prepares it for the AI model. This includes resizing to the required input dimensions, normalization of pixel values, and any necessary cropping or enhancement.</a:t>
            </a:r>
            <a:br>
              <a:rPr lang="en-IN"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757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1E8E-72B6-ED72-7F40-630A351F30A6}"/>
              </a:ext>
            </a:extLst>
          </p:cNvPr>
          <p:cNvSpPr>
            <a:spLocks noGrp="1"/>
          </p:cNvSpPr>
          <p:nvPr>
            <p:ph type="title"/>
          </p:nvPr>
        </p:nvSpPr>
        <p:spPr/>
        <p:txBody>
          <a:bodyPr/>
          <a:lstStyle/>
          <a:p>
            <a:r>
              <a:rPr lang="en-US" dirty="0"/>
              <a:t>Modules</a:t>
            </a:r>
            <a:endParaRPr lang="en-IN" dirty="0"/>
          </a:p>
        </p:txBody>
      </p:sp>
      <p:sp>
        <p:nvSpPr>
          <p:cNvPr id="3" name="Text Placeholder 2">
            <a:extLst>
              <a:ext uri="{FF2B5EF4-FFF2-40B4-BE49-F238E27FC236}">
                <a16:creationId xmlns:a16="http://schemas.microsoft.com/office/drawing/2014/main" id="{BC7D91DB-E694-3813-277C-32E8231F214F}"/>
              </a:ext>
            </a:extLst>
          </p:cNvPr>
          <p:cNvSpPr>
            <a:spLocks noGrp="1"/>
          </p:cNvSpPr>
          <p:nvPr>
            <p:ph type="body" idx="1"/>
          </p:nvPr>
        </p:nvSpPr>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IN" dirty="0"/>
          </a:p>
        </p:txBody>
      </p:sp>
      <p:pic>
        <p:nvPicPr>
          <p:cNvPr id="7" name="Picture 6">
            <a:extLst>
              <a:ext uri="{FF2B5EF4-FFF2-40B4-BE49-F238E27FC236}">
                <a16:creationId xmlns:a16="http://schemas.microsoft.com/office/drawing/2014/main" id="{40DD40BC-6732-002F-02E7-25E97AB50E2D}"/>
              </a:ext>
            </a:extLst>
          </p:cNvPr>
          <p:cNvPicPr>
            <a:picLocks noChangeAspect="1"/>
          </p:cNvPicPr>
          <p:nvPr/>
        </p:nvPicPr>
        <p:blipFill>
          <a:blip r:embed="rId2"/>
          <a:stretch>
            <a:fillRect/>
          </a:stretch>
        </p:blipFill>
        <p:spPr>
          <a:xfrm>
            <a:off x="812800" y="1143001"/>
            <a:ext cx="4055532" cy="4055532"/>
          </a:xfrm>
          <a:prstGeom prst="rect">
            <a:avLst/>
          </a:prstGeom>
        </p:spPr>
      </p:pic>
    </p:spTree>
    <p:extLst>
      <p:ext uri="{BB962C8B-B14F-4D97-AF65-F5344CB8AC3E}">
        <p14:creationId xmlns:p14="http://schemas.microsoft.com/office/powerpoint/2010/main" val="2060054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1848E-D4D6-660E-6A23-F88A768C5E6A}"/>
              </a:ext>
            </a:extLst>
          </p:cNvPr>
          <p:cNvSpPr>
            <a:spLocks noGrp="1"/>
          </p:cNvSpPr>
          <p:nvPr>
            <p:ph type="title"/>
          </p:nvPr>
        </p:nvSpPr>
        <p:spPr/>
        <p:txBody>
          <a:bodyPr/>
          <a:lstStyle/>
          <a:p>
            <a:r>
              <a:rPr lang="en-US" dirty="0"/>
              <a:t>Modules</a:t>
            </a:r>
            <a:endParaRPr lang="en-IN" dirty="0"/>
          </a:p>
        </p:txBody>
      </p:sp>
      <p:sp>
        <p:nvSpPr>
          <p:cNvPr id="3" name="Text Placeholder 2">
            <a:extLst>
              <a:ext uri="{FF2B5EF4-FFF2-40B4-BE49-F238E27FC236}">
                <a16:creationId xmlns:a16="http://schemas.microsoft.com/office/drawing/2014/main" id="{8743F702-8609-CA5B-B3C1-D6887D1DE8AA}"/>
              </a:ext>
            </a:extLst>
          </p:cNvPr>
          <p:cNvSpPr>
            <a:spLocks noGrp="1"/>
          </p:cNvSpPr>
          <p:nvPr>
            <p:ph type="body" idx="1"/>
          </p:nvPr>
        </p:nvSpPr>
        <p:spPr/>
        <p:txBody>
          <a:bodyPr/>
          <a:lstStyle/>
          <a:p>
            <a:pPr>
              <a:buFont typeface="Arial" panose="020B0604020202020204" pitchFamily="34" charset="0"/>
              <a:buChar char="•"/>
            </a:pPr>
            <a:r>
              <a:rPr lang="en-IN" b="1" dirty="0"/>
              <a:t>AI Inference Engine</a:t>
            </a:r>
            <a:r>
              <a:rPr lang="en-IN" dirty="0"/>
              <a:t>:</a:t>
            </a:r>
            <a:br>
              <a:rPr lang="en-IN" dirty="0"/>
            </a:br>
            <a:r>
              <a:rPr lang="en-US" b="1" dirty="0"/>
              <a:t>Functionality</a:t>
            </a:r>
            <a:r>
              <a:rPr lang="en-US" dirty="0"/>
              <a:t>: This is the core of the system. It takes the preprocessed image and feeds it into our pre-trained, 16-class Convolutional Neural Network (CNN) to generate a prediction vector containing confidence scores for each disease.</a:t>
            </a:r>
            <a:br>
              <a:rPr lang="en-US" dirty="0"/>
            </a:br>
            <a:endParaRPr lang="en-IN" dirty="0"/>
          </a:p>
        </p:txBody>
      </p:sp>
      <p:pic>
        <p:nvPicPr>
          <p:cNvPr id="5" name="Picture 4">
            <a:extLst>
              <a:ext uri="{FF2B5EF4-FFF2-40B4-BE49-F238E27FC236}">
                <a16:creationId xmlns:a16="http://schemas.microsoft.com/office/drawing/2014/main" id="{F117CBE4-6846-CAD9-1081-AF55F801C0BB}"/>
              </a:ext>
            </a:extLst>
          </p:cNvPr>
          <p:cNvPicPr>
            <a:picLocks noChangeAspect="1"/>
          </p:cNvPicPr>
          <p:nvPr/>
        </p:nvPicPr>
        <p:blipFill>
          <a:blip r:embed="rId2"/>
          <a:stretch>
            <a:fillRect/>
          </a:stretch>
        </p:blipFill>
        <p:spPr>
          <a:xfrm>
            <a:off x="347133" y="3115733"/>
            <a:ext cx="10938933" cy="3099364"/>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2494F1F3-9244-203F-5362-09883A4C89AD}"/>
                  </a:ext>
                </a:extLst>
              </p14:cNvPr>
              <p14:cNvContentPartPr/>
              <p14:nvPr/>
            </p14:nvContentPartPr>
            <p14:xfrm>
              <a:off x="9922667" y="3910760"/>
              <a:ext cx="178200" cy="10080"/>
            </p14:xfrm>
          </p:contentPart>
        </mc:Choice>
        <mc:Fallback xmlns="">
          <p:pic>
            <p:nvPicPr>
              <p:cNvPr id="6" name="Ink 5">
                <a:extLst>
                  <a:ext uri="{FF2B5EF4-FFF2-40B4-BE49-F238E27FC236}">
                    <a16:creationId xmlns:a16="http://schemas.microsoft.com/office/drawing/2014/main" id="{2494F1F3-9244-203F-5362-09883A4C89AD}"/>
                  </a:ext>
                </a:extLst>
              </p:cNvPr>
              <p:cNvPicPr/>
              <p:nvPr/>
            </p:nvPicPr>
            <p:blipFill>
              <a:blip r:embed="rId4"/>
              <a:stretch>
                <a:fillRect/>
              </a:stretch>
            </p:blipFill>
            <p:spPr>
              <a:xfrm>
                <a:off x="9860027" y="3847760"/>
                <a:ext cx="303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CEE117FD-45A5-B902-2345-D7B8A780761E}"/>
                  </a:ext>
                </a:extLst>
              </p14:cNvPr>
              <p14:cNvContentPartPr/>
              <p14:nvPr/>
            </p14:nvContentPartPr>
            <p14:xfrm>
              <a:off x="10159907" y="4114520"/>
              <a:ext cx="127800" cy="360"/>
            </p14:xfrm>
          </p:contentPart>
        </mc:Choice>
        <mc:Fallback xmlns="">
          <p:pic>
            <p:nvPicPr>
              <p:cNvPr id="7" name="Ink 6">
                <a:extLst>
                  <a:ext uri="{FF2B5EF4-FFF2-40B4-BE49-F238E27FC236}">
                    <a16:creationId xmlns:a16="http://schemas.microsoft.com/office/drawing/2014/main" id="{CEE117FD-45A5-B902-2345-D7B8A780761E}"/>
                  </a:ext>
                </a:extLst>
              </p:cNvPr>
              <p:cNvPicPr/>
              <p:nvPr/>
            </p:nvPicPr>
            <p:blipFill>
              <a:blip r:embed="rId6"/>
              <a:stretch>
                <a:fillRect/>
              </a:stretch>
            </p:blipFill>
            <p:spPr>
              <a:xfrm>
                <a:off x="10097267" y="4051520"/>
                <a:ext cx="253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A682891A-7DBD-0C7A-D5EE-D8D83507A304}"/>
                  </a:ext>
                </a:extLst>
              </p14:cNvPr>
              <p14:cNvContentPartPr/>
              <p14:nvPr/>
            </p14:nvContentPartPr>
            <p14:xfrm>
              <a:off x="10346027" y="4308560"/>
              <a:ext cx="161640" cy="9720"/>
            </p14:xfrm>
          </p:contentPart>
        </mc:Choice>
        <mc:Fallback xmlns="">
          <p:pic>
            <p:nvPicPr>
              <p:cNvPr id="8" name="Ink 7">
                <a:extLst>
                  <a:ext uri="{FF2B5EF4-FFF2-40B4-BE49-F238E27FC236}">
                    <a16:creationId xmlns:a16="http://schemas.microsoft.com/office/drawing/2014/main" id="{A682891A-7DBD-0C7A-D5EE-D8D83507A304}"/>
                  </a:ext>
                </a:extLst>
              </p:cNvPr>
              <p:cNvPicPr/>
              <p:nvPr/>
            </p:nvPicPr>
            <p:blipFill>
              <a:blip r:embed="rId8"/>
              <a:stretch>
                <a:fillRect/>
              </a:stretch>
            </p:blipFill>
            <p:spPr>
              <a:xfrm>
                <a:off x="10283027" y="4245920"/>
                <a:ext cx="2872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96CBED79-553F-7886-B2C2-0AB6D8978452}"/>
                  </a:ext>
                </a:extLst>
              </p14:cNvPr>
              <p14:cNvContentPartPr/>
              <p14:nvPr/>
            </p14:nvContentPartPr>
            <p14:xfrm>
              <a:off x="10540787" y="4486400"/>
              <a:ext cx="297000" cy="27000"/>
            </p14:xfrm>
          </p:contentPart>
        </mc:Choice>
        <mc:Fallback xmlns="">
          <p:pic>
            <p:nvPicPr>
              <p:cNvPr id="9" name="Ink 8">
                <a:extLst>
                  <a:ext uri="{FF2B5EF4-FFF2-40B4-BE49-F238E27FC236}">
                    <a16:creationId xmlns:a16="http://schemas.microsoft.com/office/drawing/2014/main" id="{96CBED79-553F-7886-B2C2-0AB6D8978452}"/>
                  </a:ext>
                </a:extLst>
              </p:cNvPr>
              <p:cNvPicPr/>
              <p:nvPr/>
            </p:nvPicPr>
            <p:blipFill>
              <a:blip r:embed="rId10"/>
              <a:stretch>
                <a:fillRect/>
              </a:stretch>
            </p:blipFill>
            <p:spPr>
              <a:xfrm>
                <a:off x="10477787" y="4423400"/>
                <a:ext cx="4226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D6333ED7-7C3D-2E2C-DDBB-3B45D6C14A74}"/>
                  </a:ext>
                </a:extLst>
              </p14:cNvPr>
              <p14:cNvContentPartPr/>
              <p14:nvPr/>
            </p14:nvContentPartPr>
            <p14:xfrm>
              <a:off x="10752467" y="4655960"/>
              <a:ext cx="271800" cy="43200"/>
            </p14:xfrm>
          </p:contentPart>
        </mc:Choice>
        <mc:Fallback xmlns="">
          <p:pic>
            <p:nvPicPr>
              <p:cNvPr id="10" name="Ink 9">
                <a:extLst>
                  <a:ext uri="{FF2B5EF4-FFF2-40B4-BE49-F238E27FC236}">
                    <a16:creationId xmlns:a16="http://schemas.microsoft.com/office/drawing/2014/main" id="{D6333ED7-7C3D-2E2C-DDBB-3B45D6C14A74}"/>
                  </a:ext>
                </a:extLst>
              </p:cNvPr>
              <p:cNvPicPr/>
              <p:nvPr/>
            </p:nvPicPr>
            <p:blipFill>
              <a:blip r:embed="rId12"/>
              <a:stretch>
                <a:fillRect/>
              </a:stretch>
            </p:blipFill>
            <p:spPr>
              <a:xfrm>
                <a:off x="10689467" y="4593320"/>
                <a:ext cx="3974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E57A3C77-B503-1117-855A-50AB75D0462C}"/>
                  </a:ext>
                </a:extLst>
              </p14:cNvPr>
              <p14:cNvContentPartPr/>
              <p14:nvPr/>
            </p14:nvContentPartPr>
            <p14:xfrm>
              <a:off x="10713947" y="4672880"/>
              <a:ext cx="64440" cy="76320"/>
            </p14:xfrm>
          </p:contentPart>
        </mc:Choice>
        <mc:Fallback xmlns="">
          <p:pic>
            <p:nvPicPr>
              <p:cNvPr id="11" name="Ink 10">
                <a:extLst>
                  <a:ext uri="{FF2B5EF4-FFF2-40B4-BE49-F238E27FC236}">
                    <a16:creationId xmlns:a16="http://schemas.microsoft.com/office/drawing/2014/main" id="{E57A3C77-B503-1117-855A-50AB75D0462C}"/>
                  </a:ext>
                </a:extLst>
              </p:cNvPr>
              <p:cNvPicPr/>
              <p:nvPr/>
            </p:nvPicPr>
            <p:blipFill>
              <a:blip r:embed="rId14"/>
              <a:stretch>
                <a:fillRect/>
              </a:stretch>
            </p:blipFill>
            <p:spPr>
              <a:xfrm>
                <a:off x="10650947" y="4609880"/>
                <a:ext cx="1900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DDC80523-26D4-8FFC-1711-1A2F1A00DB2A}"/>
                  </a:ext>
                </a:extLst>
              </p14:cNvPr>
              <p14:cNvContentPartPr/>
              <p14:nvPr/>
            </p14:nvContentPartPr>
            <p14:xfrm>
              <a:off x="10938587" y="4678640"/>
              <a:ext cx="53640" cy="12240"/>
            </p14:xfrm>
          </p:contentPart>
        </mc:Choice>
        <mc:Fallback xmlns="">
          <p:pic>
            <p:nvPicPr>
              <p:cNvPr id="12" name="Ink 11">
                <a:extLst>
                  <a:ext uri="{FF2B5EF4-FFF2-40B4-BE49-F238E27FC236}">
                    <a16:creationId xmlns:a16="http://schemas.microsoft.com/office/drawing/2014/main" id="{DDC80523-26D4-8FFC-1711-1A2F1A00DB2A}"/>
                  </a:ext>
                </a:extLst>
              </p:cNvPr>
              <p:cNvPicPr/>
              <p:nvPr/>
            </p:nvPicPr>
            <p:blipFill>
              <a:blip r:embed="rId16"/>
              <a:stretch>
                <a:fillRect/>
              </a:stretch>
            </p:blipFill>
            <p:spPr>
              <a:xfrm>
                <a:off x="10875947" y="4616000"/>
                <a:ext cx="179280" cy="137880"/>
              </a:xfrm>
              <a:prstGeom prst="rect">
                <a:avLst/>
              </a:prstGeom>
            </p:spPr>
          </p:pic>
        </mc:Fallback>
      </mc:AlternateContent>
    </p:spTree>
    <p:extLst>
      <p:ext uri="{BB962C8B-B14F-4D97-AF65-F5344CB8AC3E}">
        <p14:creationId xmlns:p14="http://schemas.microsoft.com/office/powerpoint/2010/main" val="3319650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02CE-8D64-813B-F074-17D032C51FE5}"/>
              </a:ext>
            </a:extLst>
          </p:cNvPr>
          <p:cNvSpPr>
            <a:spLocks noGrp="1"/>
          </p:cNvSpPr>
          <p:nvPr>
            <p:ph type="title"/>
          </p:nvPr>
        </p:nvSpPr>
        <p:spPr/>
        <p:txBody>
          <a:bodyPr/>
          <a:lstStyle/>
          <a:p>
            <a:r>
              <a:rPr lang="en-US" dirty="0"/>
              <a:t>Modules</a:t>
            </a:r>
            <a:endParaRPr lang="en-IN" dirty="0"/>
          </a:p>
        </p:txBody>
      </p:sp>
      <p:sp>
        <p:nvSpPr>
          <p:cNvPr id="3" name="Text Placeholder 2">
            <a:extLst>
              <a:ext uri="{FF2B5EF4-FFF2-40B4-BE49-F238E27FC236}">
                <a16:creationId xmlns:a16="http://schemas.microsoft.com/office/drawing/2014/main" id="{C62B11B0-7D08-15EB-CA0E-542940B03382}"/>
              </a:ext>
            </a:extLst>
          </p:cNvPr>
          <p:cNvSpPr>
            <a:spLocks noGrp="1"/>
          </p:cNvSpPr>
          <p:nvPr>
            <p:ph type="body" idx="1"/>
          </p:nvPr>
        </p:nvSpPr>
        <p:spPr/>
        <p:txBody>
          <a:bodyPr>
            <a:normAutofit lnSpcReduction="10000"/>
          </a:bodyPr>
          <a:lstStyle/>
          <a:p>
            <a:pPr marL="76200" indent="0">
              <a:buNone/>
            </a:pPr>
            <a:r>
              <a:rPr lang="en-US" b="1" dirty="0"/>
              <a:t>Backend: Model Training Pipeline</a:t>
            </a:r>
          </a:p>
          <a:p>
            <a:r>
              <a:rPr lang="en-US" dirty="0"/>
              <a:t>Data Loading &amp; Preparation</a:t>
            </a:r>
          </a:p>
          <a:p>
            <a:r>
              <a:rPr lang="en-US" dirty="0"/>
              <a:t>Feature Extraction (ResNet50)</a:t>
            </a:r>
          </a:p>
          <a:p>
            <a:r>
              <a:rPr lang="en-US" dirty="0"/>
              <a:t>Data Balancing (SMOTE)</a:t>
            </a:r>
          </a:p>
          <a:p>
            <a:r>
              <a:rPr lang="en-US" dirty="0"/>
              <a:t>Model Training &amp; Evaluation (Random Forest)</a:t>
            </a:r>
          </a:p>
          <a:p>
            <a:r>
              <a:rPr lang="en-US" dirty="0"/>
              <a:t>Model Persistence (Saving Model to Drive)</a:t>
            </a:r>
          </a:p>
          <a:p>
            <a:pPr marL="76200" indent="0">
              <a:buNone/>
            </a:pPr>
            <a:br>
              <a:rPr lang="en-US" dirty="0"/>
            </a:br>
            <a:r>
              <a:rPr lang="en-US" b="1" dirty="0"/>
              <a:t>Frontend: Streamlit Application</a:t>
            </a:r>
          </a:p>
          <a:p>
            <a:r>
              <a:rPr lang="en-US" dirty="0"/>
              <a:t>Application Setup &amp; Initialization</a:t>
            </a:r>
          </a:p>
          <a:p>
            <a:r>
              <a:rPr lang="en-US" dirty="0"/>
              <a:t>Model Loading</a:t>
            </a:r>
          </a:p>
          <a:p>
            <a:r>
              <a:rPr lang="en-US" dirty="0"/>
              <a:t>UI &amp; Page Navigation</a:t>
            </a:r>
          </a:p>
          <a:p>
            <a:r>
              <a:rPr lang="en-US" dirty="0"/>
              <a:t>Inference Engine (Real-time Prediction)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A5FCA4D-BACE-FAC9-5F3E-B4F09BF8C037}"/>
                  </a:ext>
                </a:extLst>
              </p14:cNvPr>
              <p14:cNvContentPartPr/>
              <p14:nvPr/>
            </p14:nvContentPartPr>
            <p14:xfrm>
              <a:off x="2717627" y="499227"/>
              <a:ext cx="360" cy="360"/>
            </p14:xfrm>
          </p:contentPart>
        </mc:Choice>
        <mc:Fallback xmlns="">
          <p:pic>
            <p:nvPicPr>
              <p:cNvPr id="4" name="Ink 3">
                <a:extLst>
                  <a:ext uri="{FF2B5EF4-FFF2-40B4-BE49-F238E27FC236}">
                    <a16:creationId xmlns:a16="http://schemas.microsoft.com/office/drawing/2014/main" id="{7A5FCA4D-BACE-FAC9-5F3E-B4F09BF8C037}"/>
                  </a:ext>
                </a:extLst>
              </p:cNvPr>
              <p:cNvPicPr/>
              <p:nvPr/>
            </p:nvPicPr>
            <p:blipFill>
              <a:blip r:embed="rId3"/>
              <a:stretch>
                <a:fillRect/>
              </a:stretch>
            </p:blipFill>
            <p:spPr>
              <a:xfrm>
                <a:off x="2654627" y="436587"/>
                <a:ext cx="126000" cy="126000"/>
              </a:xfrm>
              <a:prstGeom prst="rect">
                <a:avLst/>
              </a:prstGeom>
            </p:spPr>
          </p:pic>
        </mc:Fallback>
      </mc:AlternateContent>
    </p:spTree>
    <p:extLst>
      <p:ext uri="{BB962C8B-B14F-4D97-AF65-F5344CB8AC3E}">
        <p14:creationId xmlns:p14="http://schemas.microsoft.com/office/powerpoint/2010/main" val="255165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C6A9A-73A3-BBBF-6A92-DA777232A3FA}"/>
              </a:ext>
            </a:extLst>
          </p:cNvPr>
          <p:cNvSpPr>
            <a:spLocks noGrp="1"/>
          </p:cNvSpPr>
          <p:nvPr>
            <p:ph type="title"/>
          </p:nvPr>
        </p:nvSpPr>
        <p:spPr/>
        <p:txBody>
          <a:bodyPr/>
          <a:lstStyle/>
          <a:p>
            <a:r>
              <a:rPr lang="en-IN" dirty="0"/>
              <a:t>Output</a:t>
            </a:r>
          </a:p>
        </p:txBody>
      </p:sp>
      <p:sp>
        <p:nvSpPr>
          <p:cNvPr id="3" name="Text Placeholder 2">
            <a:extLst>
              <a:ext uri="{FF2B5EF4-FFF2-40B4-BE49-F238E27FC236}">
                <a16:creationId xmlns:a16="http://schemas.microsoft.com/office/drawing/2014/main" id="{D8C9651F-CA52-4043-CBAA-B9AD1E3EDBEC}"/>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7D39A78D-3967-6D1E-7F3C-A2A1C5D5848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351" y="1251285"/>
            <a:ext cx="5723255" cy="1532255"/>
          </a:xfrm>
          <a:prstGeom prst="rect">
            <a:avLst/>
          </a:prstGeom>
          <a:noFill/>
          <a:ln>
            <a:noFill/>
          </a:ln>
        </p:spPr>
      </p:pic>
      <p:pic>
        <p:nvPicPr>
          <p:cNvPr id="7" name="Picture 6">
            <a:extLst>
              <a:ext uri="{FF2B5EF4-FFF2-40B4-BE49-F238E27FC236}">
                <a16:creationId xmlns:a16="http://schemas.microsoft.com/office/drawing/2014/main" id="{FDA0B806-AB56-28DB-D945-C712309E5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351" y="2739847"/>
            <a:ext cx="5026526" cy="346443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DAF3DADE-4428-F74A-25DA-B50E3790EC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4183" y="2886243"/>
            <a:ext cx="4639310" cy="3107055"/>
          </a:xfrm>
          <a:prstGeom prst="rect">
            <a:avLst/>
          </a:prstGeom>
        </p:spPr>
      </p:pic>
    </p:spTree>
    <p:extLst>
      <p:ext uri="{BB962C8B-B14F-4D97-AF65-F5344CB8AC3E}">
        <p14:creationId xmlns:p14="http://schemas.microsoft.com/office/powerpoint/2010/main" val="2566898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630903" y="16827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 </a:t>
            </a:r>
          </a:p>
          <a:p>
            <a:pPr marL="342900" indent="-190500" algn="just">
              <a:spcBef>
                <a:spcPts val="0"/>
              </a:spcBef>
              <a:buSzPct val="100000"/>
              <a:buNone/>
            </a:pPr>
            <a:r>
              <a:rPr lang="en-IN" dirty="0">
                <a:hlinkClick r:id="rId3"/>
              </a:rPr>
              <a:t>lakshmipriyanarayan/CSE_4_PSCS_49</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IN" dirty="0">
                <a:solidFill>
                  <a:schemeClr val="bg2"/>
                </a:solidFill>
              </a:rPr>
              <a:t>Software and Hardware Requirements:</a:t>
            </a:r>
          </a:p>
        </p:txBody>
      </p:sp>
      <p:sp>
        <p:nvSpPr>
          <p:cNvPr id="115" name="Google Shape;115;p17"/>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8" name="Rectangle 1">
            <a:extLst>
              <a:ext uri="{FF2B5EF4-FFF2-40B4-BE49-F238E27FC236}">
                <a16:creationId xmlns:a16="http://schemas.microsoft.com/office/drawing/2014/main" id="{7E330314-9F96-DFF3-0B38-B156BDF0864D}"/>
              </a:ext>
            </a:extLst>
          </p:cNvPr>
          <p:cNvSpPr>
            <a:spLocks noGrp="1" noChangeArrowheads="1"/>
          </p:cNvSpPr>
          <p:nvPr>
            <p:ph type="body" idx="2"/>
          </p:nvPr>
        </p:nvSpPr>
        <p:spPr bwMode="auto">
          <a:xfrm>
            <a:off x="859368" y="1221809"/>
            <a:ext cx="47788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HARDWARE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Development PC/Laptop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CPU: Intel i5 / AMD Ryzen 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RAM: 16 GB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GPU: NVIDIA (6GB+ VRAM)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Storage: 512 GB+ SSD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Android Smartphone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Cloud Alternative</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(for GPU)</a:t>
            </a:r>
          </a:p>
        </p:txBody>
      </p:sp>
      <p:sp>
        <p:nvSpPr>
          <p:cNvPr id="9" name="Rectangle 2">
            <a:extLst>
              <a:ext uri="{FF2B5EF4-FFF2-40B4-BE49-F238E27FC236}">
                <a16:creationId xmlns:a16="http://schemas.microsoft.com/office/drawing/2014/main" id="{1E044881-3F3F-65B0-8B6A-56E344504C21}"/>
              </a:ext>
            </a:extLst>
          </p:cNvPr>
          <p:cNvSpPr>
            <a:spLocks noGrp="1" noChangeArrowheads="1"/>
          </p:cNvSpPr>
          <p:nvPr>
            <p:ph type="body" idx="4"/>
          </p:nvPr>
        </p:nvSpPr>
        <p:spPr bwMode="auto">
          <a:xfrm>
            <a:off x="6193368" y="1221809"/>
            <a:ext cx="357020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SOFTWARE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OS:</a:t>
            </a:r>
            <a:r>
              <a:rPr kumimoji="0" lang="en-US" altLang="en-US" sz="1800" b="0" i="0" u="none" strike="noStrike" cap="none" normalizeH="0" baseline="0" dirty="0">
                <a:ln>
                  <a:noFill/>
                </a:ln>
                <a:solidFill>
                  <a:schemeClr val="tx1"/>
                </a:solidFill>
                <a:effectLst/>
                <a:latin typeface="Arial" panose="020B0604020202020204" pitchFamily="34" charset="0"/>
              </a:rPr>
              <a:t> Windows / macOS / Linux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 Tools: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 Studio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Git &amp; GitHub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Android Studio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Stack (Python):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TensorFlow, </a:t>
            </a:r>
            <a:r>
              <a:rPr kumimoji="0" lang="en-US" altLang="en-US" sz="1800" b="0" i="0" u="none" strike="noStrike" cap="none" normalizeH="0" baseline="0" dirty="0" err="1">
                <a:ln>
                  <a:noFill/>
                </a:ln>
                <a:solidFill>
                  <a:schemeClr val="tx1"/>
                </a:solidFill>
                <a:effectLst/>
                <a:latin typeface="Arial" panose="020B0604020202020204" pitchFamily="34" charset="0"/>
              </a:rPr>
              <a:t>Keras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TensorFlow Lite (TFLite)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OpenCV, Pillow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8832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01C8781A-4182-FE5A-2DA0-0BF198F29F55}"/>
              </a:ext>
            </a:extLst>
          </p:cNvPr>
          <p:cNvSpPr>
            <a:spLocks noGrp="1"/>
          </p:cNvSpPr>
          <p:nvPr>
            <p:ph type="body" idx="1"/>
          </p:nvPr>
        </p:nvSpPr>
        <p:spPr/>
        <p:txBody>
          <a:bodyPr/>
          <a:lstStyle/>
          <a:p>
            <a:endParaRPr lang="en-IN" dirty="0"/>
          </a:p>
        </p:txBody>
      </p:sp>
      <p:pic>
        <p:nvPicPr>
          <p:cNvPr id="7" name="Picture 6" descr="A graph with different colored squares&#10;&#10;AI-generated content may be incorrect.">
            <a:extLst>
              <a:ext uri="{FF2B5EF4-FFF2-40B4-BE49-F238E27FC236}">
                <a16:creationId xmlns:a16="http://schemas.microsoft.com/office/drawing/2014/main" id="{BB39A80A-9BD2-641F-A956-06E958BC8CBA}"/>
              </a:ext>
            </a:extLst>
          </p:cNvPr>
          <p:cNvPicPr>
            <a:picLocks noChangeAspect="1"/>
          </p:cNvPicPr>
          <p:nvPr/>
        </p:nvPicPr>
        <p:blipFill>
          <a:blip r:embed="rId3"/>
          <a:stretch>
            <a:fillRect/>
          </a:stretch>
        </p:blipFill>
        <p:spPr>
          <a:xfrm>
            <a:off x="1517133" y="1188715"/>
            <a:ext cx="9157734" cy="448056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5" name="Text Placeholder 4">
            <a:extLst>
              <a:ext uri="{FF2B5EF4-FFF2-40B4-BE49-F238E27FC236}">
                <a16:creationId xmlns:a16="http://schemas.microsoft.com/office/drawing/2014/main" id="{709E151F-C20E-9656-827D-A347947A12CE}"/>
              </a:ext>
            </a:extLst>
          </p:cNvPr>
          <p:cNvSpPr>
            <a:spLocks noGrp="1" noChangeArrowheads="1"/>
          </p:cNvSpPr>
          <p:nvPr>
            <p:ph type="body" idx="1"/>
          </p:nvPr>
        </p:nvSpPr>
        <p:spPr bwMode="auto">
          <a:xfrm>
            <a:off x="479223" y="1367571"/>
            <a:ext cx="1133515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[1] M. </a:t>
            </a:r>
            <a:r>
              <a:rPr kumimoji="0" lang="en-US" altLang="en-US" sz="1000" b="0" i="0" u="none" strike="noStrike" cap="none" normalizeH="0" baseline="0" dirty="0" err="1">
                <a:ln>
                  <a:noFill/>
                </a:ln>
                <a:solidFill>
                  <a:schemeClr val="tx1"/>
                </a:solidFill>
                <a:effectLst/>
                <a:latin typeface="Arial" panose="020B0604020202020204" pitchFamily="34" charset="0"/>
              </a:rPr>
              <a:t>Heenaye</a:t>
            </a:r>
            <a:r>
              <a:rPr kumimoji="0" lang="en-US" altLang="en-US" sz="1000" b="0" i="0" u="none" strike="noStrike" cap="none" normalizeH="0" baseline="0" dirty="0">
                <a:ln>
                  <a:noFill/>
                </a:ln>
                <a:solidFill>
                  <a:schemeClr val="tx1"/>
                </a:solidFill>
                <a:effectLst/>
                <a:latin typeface="Arial" panose="020B0604020202020204" pitchFamily="34" charset="0"/>
              </a:rPr>
              <a:t>-Mamode Khan, N. G. Sahib-Kaudeer, M. </a:t>
            </a:r>
            <a:r>
              <a:rPr kumimoji="0" lang="en-US" altLang="en-US" sz="1000" b="0" i="0" u="none" strike="noStrike" cap="none" normalizeH="0" baseline="0" dirty="0" err="1">
                <a:ln>
                  <a:noFill/>
                </a:ln>
                <a:solidFill>
                  <a:schemeClr val="tx1"/>
                </a:solidFill>
                <a:effectLst/>
                <a:latin typeface="Arial" panose="020B0604020202020204" pitchFamily="34" charset="0"/>
              </a:rPr>
              <a:t>Dayalen</a:t>
            </a:r>
            <a:r>
              <a:rPr kumimoji="0" lang="en-US" altLang="en-US" sz="1000" b="0" i="0" u="none" strike="noStrike" cap="none" normalizeH="0" baseline="0" dirty="0">
                <a:ln>
                  <a:noFill/>
                </a:ln>
                <a:solidFill>
                  <a:schemeClr val="tx1"/>
                </a:solidFill>
                <a:effectLst/>
                <a:latin typeface="Arial" panose="020B0604020202020204" pitchFamily="34" charset="0"/>
              </a:rPr>
              <a:t>, F. </a:t>
            </a:r>
            <a:r>
              <a:rPr kumimoji="0" lang="en-US" altLang="en-US" sz="1000" b="0" i="0" u="none" strike="noStrike" cap="none" normalizeH="0" baseline="0" dirty="0" err="1">
                <a:ln>
                  <a:noFill/>
                </a:ln>
                <a:solidFill>
                  <a:schemeClr val="tx1"/>
                </a:solidFill>
                <a:effectLst/>
                <a:latin typeface="Arial" panose="020B0604020202020204" pitchFamily="34" charset="0"/>
              </a:rPr>
              <a:t>Mahomedaly</a:t>
            </a:r>
            <a:r>
              <a:rPr kumimoji="0" lang="en-US" altLang="en-US" sz="1000" b="0" i="0" u="none" strike="noStrike" cap="none" normalizeH="0" baseline="0" dirty="0">
                <a:ln>
                  <a:noFill/>
                </a:ln>
                <a:solidFill>
                  <a:schemeClr val="tx1"/>
                </a:solidFill>
                <a:effectLst/>
                <a:latin typeface="Arial" panose="020B0604020202020204" pitchFamily="34" charset="0"/>
              </a:rPr>
              <a:t>, G. R. Sinha, K. K. </a:t>
            </a:r>
            <a:r>
              <a:rPr kumimoji="0" lang="en-US" altLang="en-US" sz="1000" b="0" i="0" u="none" strike="noStrike" cap="none" normalizeH="0" baseline="0" dirty="0" err="1">
                <a:ln>
                  <a:noFill/>
                </a:ln>
                <a:solidFill>
                  <a:schemeClr val="tx1"/>
                </a:solidFill>
                <a:effectLst/>
                <a:latin typeface="Arial" panose="020B0604020202020204" pitchFamily="34" charset="0"/>
              </a:rPr>
              <a:t>Nagwanshi</a:t>
            </a:r>
            <a:r>
              <a:rPr kumimoji="0" lang="en-US" altLang="en-US" sz="1000" b="0" i="0" u="none" strike="noStrike" cap="none" normalizeH="0" baseline="0" dirty="0">
                <a:ln>
                  <a:noFill/>
                </a:ln>
                <a:solidFill>
                  <a:schemeClr val="tx1"/>
                </a:solidFill>
                <a:effectLst/>
                <a:latin typeface="Arial" panose="020B0604020202020204" pitchFamily="34" charset="0"/>
              </a:rPr>
              <a:t>, and A. Taylor, "Multi-Class Skin Problem Classification Using Deep Generative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Adversarial Network (DGAN)," </a:t>
            </a:r>
            <a:r>
              <a:rPr kumimoji="0" lang="en-US" altLang="en-US" sz="1000" b="0" i="1" u="none" strike="noStrike" cap="none" normalizeH="0" baseline="0" dirty="0">
                <a:ln>
                  <a:noFill/>
                </a:ln>
                <a:solidFill>
                  <a:schemeClr val="tx1"/>
                </a:solidFill>
                <a:effectLst/>
                <a:latin typeface="Arial" panose="020B0604020202020204" pitchFamily="34" charset="0"/>
              </a:rPr>
              <a:t>Computational Intelligence and Neuroscience</a:t>
            </a:r>
            <a:r>
              <a:rPr kumimoji="0" lang="en-US" altLang="en-US" sz="1000" b="0" i="0" u="none" strike="noStrike" cap="none" normalizeH="0" baseline="0" dirty="0">
                <a:ln>
                  <a:noFill/>
                </a:ln>
                <a:solidFill>
                  <a:schemeClr val="tx1"/>
                </a:solidFill>
                <a:effectLst/>
                <a:latin typeface="Arial" panose="020B0604020202020204" pitchFamily="34" charset="0"/>
              </a:rPr>
              <a:t>, vol. 2022, Article ID 1797471, 2022.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10.1155/2022/1797471.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[2] A. </a:t>
            </a:r>
            <a:r>
              <a:rPr kumimoji="0" lang="en-US" altLang="en-US" sz="1000" b="0" i="0" u="none" strike="noStrike" cap="none" normalizeH="0" baseline="0" dirty="0" err="1">
                <a:ln>
                  <a:noFill/>
                </a:ln>
                <a:solidFill>
                  <a:schemeClr val="tx1"/>
                </a:solidFill>
                <a:effectLst/>
                <a:latin typeface="Arial" panose="020B0604020202020204" pitchFamily="34" charset="0"/>
              </a:rPr>
              <a:t>Laouarem</a:t>
            </a:r>
            <a:r>
              <a:rPr kumimoji="0" lang="en-US" altLang="en-US" sz="1000" b="0" i="0" u="none" strike="noStrike" cap="none" normalizeH="0" baseline="0" dirty="0">
                <a:ln>
                  <a:noFill/>
                </a:ln>
                <a:solidFill>
                  <a:schemeClr val="tx1"/>
                </a:solidFill>
                <a:effectLst/>
                <a:latin typeface="Arial" panose="020B0604020202020204" pitchFamily="34" charset="0"/>
              </a:rPr>
              <a:t>, C. Kara-Mohamed, E. </a:t>
            </a:r>
            <a:r>
              <a:rPr kumimoji="0" lang="en-US" altLang="en-US" sz="1000" b="0" i="0" u="none" strike="noStrike" cap="none" normalizeH="0" baseline="0" dirty="0" err="1">
                <a:ln>
                  <a:noFill/>
                </a:ln>
                <a:solidFill>
                  <a:schemeClr val="tx1"/>
                </a:solidFill>
                <a:effectLst/>
                <a:latin typeface="Arial" panose="020B0604020202020204" pitchFamily="34" charset="0"/>
              </a:rPr>
              <a:t>Bourennane</a:t>
            </a:r>
            <a:r>
              <a:rPr kumimoji="0" lang="en-US" altLang="en-US" sz="1000" b="0" i="0" u="none" strike="noStrike" cap="none" normalizeH="0" baseline="0" dirty="0">
                <a:ln>
                  <a:noFill/>
                </a:ln>
                <a:solidFill>
                  <a:schemeClr val="tx1"/>
                </a:solidFill>
                <a:effectLst/>
                <a:latin typeface="Arial" panose="020B0604020202020204" pitchFamily="34" charset="0"/>
              </a:rPr>
              <a:t>, and A. Hamdi-Cherif, "JILDYA-Net: An Efficient Lightweight Multi-Class Classification Architecture for Skin Lesions," </a:t>
            </a:r>
            <a:r>
              <a:rPr kumimoji="0" lang="en-US" altLang="en-US" sz="1000" b="0" i="1" u="none" strike="noStrike" cap="none" normalizeH="0" baseline="0" dirty="0">
                <a:ln>
                  <a:noFill/>
                </a:ln>
                <a:solidFill>
                  <a:schemeClr val="tx1"/>
                </a:solidFill>
                <a:effectLst/>
                <a:latin typeface="Arial" panose="020B0604020202020204" pitchFamily="34" charset="0"/>
              </a:rPr>
              <a:t>International Journal of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chemeClr val="tx1"/>
                </a:solidFill>
                <a:effectLst/>
                <a:latin typeface="Arial" panose="020B0604020202020204" pitchFamily="34" charset="0"/>
              </a:rPr>
              <a:t>Imaging Systems and Technology</a:t>
            </a:r>
            <a:r>
              <a:rPr kumimoji="0" lang="en-US" altLang="en-US" sz="1000" b="0" i="0" u="none" strike="noStrike" cap="none" normalizeH="0" baseline="0" dirty="0">
                <a:ln>
                  <a:noFill/>
                </a:ln>
                <a:solidFill>
                  <a:schemeClr val="tx1"/>
                </a:solidFill>
                <a:effectLst/>
                <a:latin typeface="Arial" panose="020B0604020202020204" pitchFamily="34" charset="0"/>
              </a:rPr>
              <a:t>, vol. 35, p. e70102, 2025.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10.1002/ima.70102.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[3] K. Rezaee and H. G. Zadeh, "Self-attention transformer unit-based deep learning framework for skin lesions classification in smart healthcare," </a:t>
            </a:r>
            <a:r>
              <a:rPr kumimoji="0" lang="en-US" altLang="en-US" sz="1000" b="0" i="1" u="none" strike="noStrike" cap="none" normalizeH="0" baseline="0" dirty="0">
                <a:ln>
                  <a:noFill/>
                </a:ln>
                <a:solidFill>
                  <a:schemeClr val="tx1"/>
                </a:solidFill>
                <a:effectLst/>
                <a:latin typeface="Arial" panose="020B0604020202020204" pitchFamily="34" charset="0"/>
              </a:rPr>
              <a:t>Discover Applied Sciences</a:t>
            </a:r>
            <a:r>
              <a:rPr kumimoji="0" lang="en-US" altLang="en-US" sz="1000" b="0" i="0" u="none" strike="noStrike" cap="none" normalizeH="0" baseline="0" dirty="0">
                <a:ln>
                  <a:noFill/>
                </a:ln>
                <a:solidFill>
                  <a:schemeClr val="tx1"/>
                </a:solidFill>
                <a:effectLst/>
                <a:latin typeface="Arial" panose="020B0604020202020204" pitchFamily="34" charset="0"/>
              </a:rPr>
              <a:t>, vol. 6, no. 3, 2024.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10.1007/s42452-024-05655-1.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[4] N. Y. Vidal, K. Sidey, Y.-H. Kim, and D. E. Vidal, "Artificial intelligence in medicine - dermatology compared to other medical specialties in FDA-cleared software as medical device," </a:t>
            </a:r>
            <a:r>
              <a:rPr kumimoji="0" lang="en-US" altLang="en-US" sz="1000" b="0" i="1" u="none" strike="noStrike" cap="none" normalizeH="0" baseline="0" dirty="0">
                <a:ln>
                  <a:noFill/>
                </a:ln>
                <a:solidFill>
                  <a:schemeClr val="tx1"/>
                </a:solidFill>
                <a:effectLst/>
                <a:latin typeface="Arial" panose="020B0604020202020204" pitchFamily="34" charset="0"/>
              </a:rPr>
              <a:t>Dermatology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chemeClr val="tx1"/>
                </a:solidFill>
                <a:effectLst/>
                <a:latin typeface="Arial" panose="020B0604020202020204" pitchFamily="34" charset="0"/>
              </a:rPr>
              <a:t>Online Journal</a:t>
            </a:r>
            <a:r>
              <a:rPr kumimoji="0" lang="en-US" altLang="en-US" sz="1000" b="0" i="0" u="none" strike="noStrike" cap="none" normalizeH="0" baseline="0" dirty="0">
                <a:ln>
                  <a:noFill/>
                </a:ln>
                <a:solidFill>
                  <a:schemeClr val="tx1"/>
                </a:solidFill>
                <a:effectLst/>
                <a:latin typeface="Arial" panose="020B0604020202020204" pitchFamily="34" charset="0"/>
              </a:rPr>
              <a:t>, vol. 29, no. 2, 2023.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10.5070/D329260766.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[5] S. M. S. I. </a:t>
            </a:r>
            <a:r>
              <a:rPr kumimoji="0" lang="en-US" altLang="en-US" sz="1000" b="0" i="0" u="none" strike="noStrike" cap="none" normalizeH="0" baseline="0" dirty="0" err="1">
                <a:ln>
                  <a:noFill/>
                </a:ln>
                <a:solidFill>
                  <a:schemeClr val="tx1"/>
                </a:solidFill>
                <a:effectLst/>
                <a:latin typeface="Arial" panose="020B0604020202020204" pitchFamily="34" charset="0"/>
              </a:rPr>
              <a:t>Badhon</a:t>
            </a:r>
            <a:r>
              <a:rPr kumimoji="0" lang="en-US" altLang="en-US" sz="1000" b="0" i="0" u="none" strike="noStrike" cap="none" normalizeH="0" baseline="0" dirty="0">
                <a:ln>
                  <a:noFill/>
                </a:ln>
                <a:solidFill>
                  <a:schemeClr val="tx1"/>
                </a:solidFill>
                <a:effectLst/>
                <a:latin typeface="Arial" panose="020B0604020202020204" pitchFamily="34" charset="0"/>
              </a:rPr>
              <a:t>, S. A. Khushbu, N. C. Saha, et al., "Explainable AI for Skin Disease Classification Using Grad-CAM and Transfer Learning to Identify Contours,"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chemeClr val="tx1"/>
                </a:solidFill>
                <a:effectLst/>
                <a:latin typeface="Arial" panose="020B0604020202020204" pitchFamily="34" charset="0"/>
              </a:rPr>
              <a:t>Preprints.org</a:t>
            </a:r>
            <a:r>
              <a:rPr kumimoji="0" lang="en-US" altLang="en-US" sz="1000" b="0" i="0" u="none" strike="noStrike" cap="none" normalizeH="0" baseline="0" dirty="0">
                <a:ln>
                  <a:noFill/>
                </a:ln>
                <a:solidFill>
                  <a:schemeClr val="tx1"/>
                </a:solidFill>
                <a:effectLst/>
                <a:latin typeface="Arial" panose="020B0604020202020204" pitchFamily="34" charset="0"/>
              </a:rPr>
              <a:t>, 2024.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10.20944/preprints202407.2556.v1.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[6] H. Wang, X. Wang, Y. Wang, et al., "Quantization-Aware Neuromorphic Architecture for Efficient Skin Disease Classification on Resource-Constrained Devices,"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err="1">
                <a:ln>
                  <a:noFill/>
                </a:ln>
                <a:solidFill>
                  <a:schemeClr val="tx1"/>
                </a:solidFill>
                <a:effectLst/>
                <a:latin typeface="Arial" panose="020B0604020202020204" pitchFamily="34" charset="0"/>
              </a:rPr>
              <a:t>arXiv</a:t>
            </a:r>
            <a:r>
              <a:rPr kumimoji="0" lang="en-US" altLang="en-US" sz="1000" b="0" i="1" u="none" strike="noStrike" cap="none" normalizeH="0" baseline="0" dirty="0">
                <a:ln>
                  <a:noFill/>
                </a:ln>
                <a:solidFill>
                  <a:schemeClr val="tx1"/>
                </a:solidFill>
                <a:effectLst/>
                <a:latin typeface="Arial" panose="020B0604020202020204" pitchFamily="34" charset="0"/>
              </a:rPr>
              <a:t> preprint arXiv:2507.15958v1</a:t>
            </a:r>
            <a:r>
              <a:rPr kumimoji="0" lang="en-US" altLang="en-US" sz="1000" b="0" i="0" u="none" strike="noStrike" cap="none" normalizeH="0" baseline="0" dirty="0">
                <a:ln>
                  <a:noFill/>
                </a:ln>
                <a:solidFill>
                  <a:schemeClr val="tx1"/>
                </a:solidFill>
                <a:effectLst/>
                <a:latin typeface="Arial" panose="020B0604020202020204" pitchFamily="34" charset="0"/>
              </a:rPr>
              <a:t>, 2025.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[7] A. Kalaivani and S. Karpagavalli, "Detection and classification of skin diseases with ensembles of deep learning networks in medical imaging," </a:t>
            </a:r>
            <a:r>
              <a:rPr kumimoji="0" lang="en-US" altLang="en-US" sz="1000" b="0" i="1" u="none" strike="noStrike" cap="none" normalizeH="0" baseline="0" dirty="0">
                <a:ln>
                  <a:noFill/>
                </a:ln>
                <a:solidFill>
                  <a:schemeClr val="tx1"/>
                </a:solidFill>
                <a:effectLst/>
                <a:latin typeface="Arial" panose="020B0604020202020204" pitchFamily="34" charset="0"/>
              </a:rPr>
              <a:t>International Journal of Health Sciences</a:t>
            </a:r>
            <a:r>
              <a:rPr kumimoji="0" lang="en-US" altLang="en-US" sz="1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 vol. 6, no. S1, pp. 13624-13637, 2022.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10.53730/ijhs.v6nS1.8402.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[8] S. </a:t>
            </a:r>
            <a:r>
              <a:rPr kumimoji="0" lang="en-US" altLang="en-US" sz="1000" b="0" i="0" u="none" strike="noStrike" cap="none" normalizeH="0" baseline="0" dirty="0" err="1">
                <a:ln>
                  <a:noFill/>
                </a:ln>
                <a:solidFill>
                  <a:schemeClr val="tx1"/>
                </a:solidFill>
                <a:effectLst/>
                <a:latin typeface="Arial" panose="020B0604020202020204" pitchFamily="34" charset="0"/>
              </a:rPr>
              <a:t>Haggenmüller</a:t>
            </a:r>
            <a:r>
              <a:rPr kumimoji="0" lang="en-US" altLang="en-US" sz="1000" b="0" i="0" u="none" strike="noStrike" cap="none" normalizeH="0" baseline="0" dirty="0">
                <a:ln>
                  <a:noFill/>
                </a:ln>
                <a:solidFill>
                  <a:schemeClr val="tx1"/>
                </a:solidFill>
                <a:effectLst/>
                <a:latin typeface="Arial" panose="020B0604020202020204" pitchFamily="34" charset="0"/>
              </a:rPr>
              <a:t>, E. Krieghoff-Henning, T. Jutzi, et al., "Digital Natives' Preferences on Mobile Artificial Intelligence Apps for Skin Cancer Diagnostics: Survey Study," </a:t>
            </a:r>
            <a:r>
              <a:rPr kumimoji="0" lang="en-US" altLang="en-US" sz="1000" b="0" i="1" u="none" strike="noStrike" cap="none" normalizeH="0" baseline="0" dirty="0">
                <a:ln>
                  <a:noFill/>
                </a:ln>
                <a:solidFill>
                  <a:schemeClr val="tx1"/>
                </a:solidFill>
                <a:effectLst/>
                <a:latin typeface="Arial" panose="020B0604020202020204" pitchFamily="34" charset="0"/>
              </a:rPr>
              <a:t>JMIR mHealth 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err="1">
                <a:ln>
                  <a:noFill/>
                </a:ln>
                <a:solidFill>
                  <a:schemeClr val="tx1"/>
                </a:solidFill>
                <a:effectLst/>
                <a:latin typeface="Arial" panose="020B0604020202020204" pitchFamily="34" charset="0"/>
              </a:rPr>
              <a:t>uHealth</a:t>
            </a:r>
            <a:r>
              <a:rPr kumimoji="0" lang="en-US" altLang="en-US" sz="1000" b="0" i="0" u="none" strike="noStrike" cap="none" normalizeH="0" baseline="0" dirty="0">
                <a:ln>
                  <a:noFill/>
                </a:ln>
                <a:solidFill>
                  <a:schemeClr val="tx1"/>
                </a:solidFill>
                <a:effectLst/>
                <a:latin typeface="Arial" panose="020B0604020202020204" pitchFamily="34" charset="0"/>
              </a:rPr>
              <a:t>, vol. 9, no. 8, p. e22909, 2021.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10.2196/22909.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[9] T. Li, B. Li, Y. Jia, et al., "Application of multimodal deep learning in the auxiliary diagnosis and treatment of dermatological diseases," </a:t>
            </a:r>
            <a:r>
              <a:rPr kumimoji="0" lang="en-US" altLang="en-US" sz="1000" b="0" i="1" u="none" strike="noStrike" cap="none" normalizeH="0" baseline="0" dirty="0">
                <a:ln>
                  <a:noFill/>
                </a:ln>
                <a:solidFill>
                  <a:schemeClr val="tx1"/>
                </a:solidFill>
                <a:effectLst/>
                <a:latin typeface="Arial" panose="020B0604020202020204" pitchFamily="34" charset="0"/>
              </a:rPr>
              <a:t>Intelligent Medicine</a:t>
            </a:r>
            <a:r>
              <a:rPr kumimoji="0" lang="en-US" altLang="en-US" sz="1000" b="0" i="0" u="none" strike="noStrike" cap="none" normalizeH="0" baseline="0" dirty="0">
                <a:ln>
                  <a:noFill/>
                </a:ln>
                <a:solidFill>
                  <a:schemeClr val="tx1"/>
                </a:solidFill>
                <a:effectLst/>
                <a:latin typeface="Arial" panose="020B0604020202020204" pitchFamily="34" charset="0"/>
              </a:rPr>
              <a:t>, vol. 5, pp. 132-140, 2025.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10.1016/j.imed.2024.10.002.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[10] M. </a:t>
            </a:r>
            <a:r>
              <a:rPr kumimoji="0" lang="en-US" altLang="en-US" sz="1000" b="0" i="0" u="none" strike="noStrike" cap="none" normalizeH="0" baseline="0" dirty="0" err="1">
                <a:ln>
                  <a:noFill/>
                </a:ln>
                <a:solidFill>
                  <a:schemeClr val="tx1"/>
                </a:solidFill>
                <a:effectLst/>
                <a:latin typeface="Arial" panose="020B0604020202020204" pitchFamily="34" charset="0"/>
              </a:rPr>
              <a:t>Kauke</a:t>
            </a:r>
            <a:r>
              <a:rPr kumimoji="0" lang="en-US" altLang="en-US" sz="1000" b="0" i="0" u="none" strike="noStrike" cap="none" normalizeH="0" baseline="0" dirty="0">
                <a:ln>
                  <a:noFill/>
                </a:ln>
                <a:solidFill>
                  <a:schemeClr val="tx1"/>
                </a:solidFill>
                <a:effectLst/>
                <a:latin typeface="Arial" panose="020B0604020202020204" pitchFamily="34" charset="0"/>
              </a:rPr>
              <a:t>-Navarro, L. </a:t>
            </a:r>
            <a:r>
              <a:rPr kumimoji="0" lang="en-US" altLang="en-US" sz="1000" b="0" i="0" u="none" strike="noStrike" cap="none" normalizeH="0" baseline="0" dirty="0" err="1">
                <a:ln>
                  <a:noFill/>
                </a:ln>
                <a:solidFill>
                  <a:schemeClr val="tx1"/>
                </a:solidFill>
                <a:effectLst/>
                <a:latin typeface="Arial" panose="020B0604020202020204" pitchFamily="34" charset="0"/>
              </a:rPr>
              <a:t>Huelsboemer</a:t>
            </a:r>
            <a:r>
              <a:rPr kumimoji="0" lang="en-US" altLang="en-US" sz="1000" b="0" i="0" u="none" strike="noStrike" cap="none" normalizeH="0" baseline="0" dirty="0">
                <a:ln>
                  <a:noFill/>
                </a:ln>
                <a:solidFill>
                  <a:schemeClr val="tx1"/>
                </a:solidFill>
                <a:effectLst/>
                <a:latin typeface="Arial" panose="020B0604020202020204" pitchFamily="34" charset="0"/>
              </a:rPr>
              <a:t>, F. J. </a:t>
            </a:r>
            <a:r>
              <a:rPr kumimoji="0" lang="en-US" altLang="en-US" sz="1000" b="0" i="0" u="none" strike="noStrike" cap="none" normalizeH="0" baseline="0" dirty="0" err="1">
                <a:ln>
                  <a:noFill/>
                </a:ln>
                <a:solidFill>
                  <a:schemeClr val="tx1"/>
                </a:solidFill>
                <a:effectLst/>
                <a:latin typeface="Arial" panose="020B0604020202020204" pitchFamily="34" charset="0"/>
              </a:rPr>
              <a:t>Klimitz</a:t>
            </a:r>
            <a:r>
              <a:rPr kumimoji="0" lang="en-US" altLang="en-US" sz="1000" b="0" i="0" u="none" strike="noStrike" cap="none" normalizeH="0" baseline="0" dirty="0">
                <a:ln>
                  <a:noFill/>
                </a:ln>
                <a:solidFill>
                  <a:schemeClr val="tx1"/>
                </a:solidFill>
                <a:effectLst/>
                <a:latin typeface="Arial" panose="020B0604020202020204" pitchFamily="34" charset="0"/>
              </a:rPr>
              <a:t>, et al., "A comparative analysis of lesional skin, sentinel flap, and mucosal biopsies in assessing acute face transplant rejection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panose="020B0604020202020204" pitchFamily="34" charset="0"/>
              </a:rPr>
              <a:t>," </a:t>
            </a:r>
            <a:r>
              <a:rPr kumimoji="0" lang="en-US" altLang="en-US" sz="1000" b="0" i="1" u="none" strike="noStrike" cap="none" normalizeH="0" baseline="0" dirty="0">
                <a:ln>
                  <a:noFill/>
                </a:ln>
                <a:solidFill>
                  <a:schemeClr val="tx1"/>
                </a:solidFill>
                <a:effectLst/>
                <a:latin typeface="Arial" panose="020B0604020202020204" pitchFamily="34" charset="0"/>
              </a:rPr>
              <a:t>Frontiers in Immunology</a:t>
            </a:r>
            <a:r>
              <a:rPr kumimoji="0" lang="en-US" altLang="en-US" sz="1000" b="0" i="0" u="none" strike="noStrike" cap="none" normalizeH="0" baseline="0" dirty="0">
                <a:ln>
                  <a:noFill/>
                </a:ln>
                <a:solidFill>
                  <a:schemeClr val="tx1"/>
                </a:solidFill>
                <a:effectLst/>
                <a:latin typeface="Arial" panose="020B0604020202020204" pitchFamily="34" charset="0"/>
              </a:rPr>
              <a:t>, vol. 16, p. 1562024, 2025. </a:t>
            </a:r>
            <a:r>
              <a:rPr kumimoji="0" lang="en-US" altLang="en-US" sz="1000" b="0" i="0" u="none" strike="noStrike" cap="none" normalizeH="0" baseline="0" dirty="0" err="1">
                <a:ln>
                  <a:noFill/>
                </a:ln>
                <a:solidFill>
                  <a:schemeClr val="tx1"/>
                </a:solidFill>
                <a:effectLst/>
                <a:latin typeface="Arial" panose="020B0604020202020204" pitchFamily="34" charset="0"/>
              </a:rPr>
              <a:t>doi</a:t>
            </a:r>
            <a:r>
              <a:rPr kumimoji="0" lang="en-US" altLang="en-US" sz="1000" b="0" i="0" u="none" strike="noStrike" cap="none" normalizeH="0" baseline="0" dirty="0">
                <a:ln>
                  <a:noFill/>
                </a:ln>
                <a:solidFill>
                  <a:schemeClr val="tx1"/>
                </a:solidFill>
                <a:effectLst/>
                <a:latin typeface="Arial" panose="020B0604020202020204" pitchFamily="34" charset="0"/>
              </a:rPr>
              <a:t>: 10.3389/fimmu.2025.1562024.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1196</TotalTime>
  <Words>2806</Words>
  <Application>Microsoft Office PowerPoint</Application>
  <PresentationFormat>Widescreen</PresentationFormat>
  <Paragraphs>275</Paragraphs>
  <Slides>22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Cambria</vt:lpstr>
      <vt:lpstr>Times New Roman</vt:lpstr>
      <vt:lpstr>Verdana</vt:lpstr>
      <vt:lpstr>Bioinformatics</vt:lpstr>
      <vt:lpstr>Al-BASED TOOL FOR PRELIMINARY DIAGNOSIS OF DERMATOLOGICAL MANIFESTATIONS</vt:lpstr>
      <vt:lpstr>Contents</vt:lpstr>
      <vt:lpstr>Problem Statement</vt:lpstr>
      <vt:lpstr>Abstract</vt:lpstr>
      <vt:lpstr>Literature Survey</vt:lpstr>
      <vt:lpstr>Literature Survey</vt:lpstr>
      <vt:lpstr>Objective</vt:lpstr>
      <vt:lpstr>Classes</vt:lpstr>
      <vt:lpstr>Existing Methods and Drawbacks</vt:lpstr>
      <vt:lpstr>Proposed Methods and Feasible Study</vt:lpstr>
      <vt:lpstr>Architecture Diagram</vt:lpstr>
      <vt:lpstr>Block Diagram</vt:lpstr>
      <vt:lpstr>Modules</vt:lpstr>
      <vt:lpstr>Modules</vt:lpstr>
      <vt:lpstr>Modules</vt:lpstr>
      <vt:lpstr>Modules</vt:lpstr>
      <vt:lpstr>Output</vt:lpstr>
      <vt:lpstr>Github Link</vt:lpstr>
      <vt:lpstr>Software and Hardware Requirements: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Lakshmipriya Narayan</cp:lastModifiedBy>
  <cp:revision>56</cp:revision>
  <dcterms:modified xsi:type="dcterms:W3CDTF">2025-12-06T04:48:31Z</dcterms:modified>
</cp:coreProperties>
</file>