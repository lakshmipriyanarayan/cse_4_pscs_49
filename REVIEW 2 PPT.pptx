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9" r:id="rId3"/>
    <p:sldId id="274" r:id="rId4"/>
    <p:sldId id="275" r:id="rId5"/>
    <p:sldId id="276" r:id="rId6"/>
    <p:sldId id="277" r:id="rId7"/>
    <p:sldId id="278" r:id="rId8"/>
    <p:sldId id="279" r:id="rId9"/>
    <p:sldId id="280" r:id="rId10"/>
    <p:sldId id="268" r:id="rId11"/>
    <p:sldId id="272" r:id="rId12"/>
    <p:sldId id="270"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FB082D-1DAA-4DDF-A8B2-F75EBB4390CD}" v="1" dt="2025-09-07T04:07:20.957"/>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priya Narayan" userId="d8c84e7deb9ddfbf" providerId="LiveId" clId="{CAFB082D-1DAA-4DDF-A8B2-F75EBB4390CD}"/>
    <pc:docChg chg="undo custSel modSld">
      <pc:chgData name="Lakshmipriya Narayan" userId="d8c84e7deb9ddfbf" providerId="LiveId" clId="{CAFB082D-1DAA-4DDF-A8B2-F75EBB4390CD}" dt="2025-09-07T04:07:20.955" v="5" actId="1076"/>
      <pc:docMkLst>
        <pc:docMk/>
      </pc:docMkLst>
      <pc:sldChg chg="modSp mod">
        <pc:chgData name="Lakshmipriya Narayan" userId="d8c84e7deb9ddfbf" providerId="LiveId" clId="{CAFB082D-1DAA-4DDF-A8B2-F75EBB4390CD}" dt="2025-09-07T04:07:20.955" v="5" actId="1076"/>
        <pc:sldMkLst>
          <pc:docMk/>
          <pc:sldMk cId="2637979550" sldId="274"/>
        </pc:sldMkLst>
        <pc:spChg chg="mod">
          <ac:chgData name="Lakshmipriya Narayan" userId="d8c84e7deb9ddfbf" providerId="LiveId" clId="{CAFB082D-1DAA-4DDF-A8B2-F75EBB4390CD}" dt="2025-09-07T04:07:20.955" v="5" actId="1076"/>
          <ac:spMkLst>
            <pc:docMk/>
            <pc:sldMk cId="2637979550" sldId="274"/>
            <ac:spMk id="3" creationId="{CEC842DF-0FCC-34FA-AF0C-C161EBC006E9}"/>
          </ac:spMkLst>
        </pc:spChg>
      </pc:sldChg>
    </pc:docChg>
  </pc:docChgLst>
  <pc:docChgLst>
    <pc:chgData name="Lakshmipriya Narayan" userId="d8c84e7deb9ddfbf" providerId="LiveId" clId="{A121F5DF-C8F1-45AA-87BC-F93DC5FDB4B8}"/>
    <pc:docChg chg="undo custSel addSld delSld modSld sldOrd">
      <pc:chgData name="Lakshmipriya Narayan" userId="d8c84e7deb9ddfbf" providerId="LiveId" clId="{A121F5DF-C8F1-45AA-87BC-F93DC5FDB4B8}" dt="2025-08-13T08:04:12.140" v="777" actId="1076"/>
      <pc:docMkLst>
        <pc:docMk/>
      </pc:docMkLst>
      <pc:sldChg chg="modSp mod">
        <pc:chgData name="Lakshmipriya Narayan" userId="d8c84e7deb9ddfbf" providerId="LiveId" clId="{A121F5DF-C8F1-45AA-87BC-F93DC5FDB4B8}" dt="2025-08-12T04:23:35.421" v="64" actId="20577"/>
        <pc:sldMkLst>
          <pc:docMk/>
          <pc:sldMk cId="0" sldId="256"/>
        </pc:sldMkLst>
        <pc:spChg chg="mod">
          <ac:chgData name="Lakshmipriya Narayan" userId="d8c84e7deb9ddfbf" providerId="LiveId" clId="{A121F5DF-C8F1-45AA-87BC-F93DC5FDB4B8}" dt="2025-08-12T04:23:35.421" v="64" actId="20577"/>
          <ac:spMkLst>
            <pc:docMk/>
            <pc:sldMk cId="0" sldId="256"/>
            <ac:spMk id="87" creationId="{00000000-0000-0000-0000-000000000000}"/>
          </ac:spMkLst>
        </pc:spChg>
      </pc:sldChg>
      <pc:sldChg chg="addSp modSp mod">
        <pc:chgData name="Lakshmipriya Narayan" userId="d8c84e7deb9ddfbf" providerId="LiveId" clId="{A121F5DF-C8F1-45AA-87BC-F93DC5FDB4B8}" dt="2025-08-13T08:04:12.140" v="777" actId="1076"/>
        <pc:sldMkLst>
          <pc:docMk/>
          <pc:sldMk cId="0" sldId="257"/>
        </pc:sldMkLst>
        <pc:spChg chg="mod">
          <ac:chgData name="Lakshmipriya Narayan" userId="d8c84e7deb9ddfbf" providerId="LiveId" clId="{A121F5DF-C8F1-45AA-87BC-F93DC5FDB4B8}" dt="2025-08-12T04:24:51.918" v="66" actId="5793"/>
          <ac:spMkLst>
            <pc:docMk/>
            <pc:sldMk cId="0" sldId="257"/>
            <ac:spMk id="96" creationId="{00000000-0000-0000-0000-000000000000}"/>
          </ac:spMkLst>
        </pc:spChg>
        <pc:spChg chg="mod">
          <ac:chgData name="Lakshmipriya Narayan" userId="d8c84e7deb9ddfbf" providerId="LiveId" clId="{A121F5DF-C8F1-45AA-87BC-F93DC5FDB4B8}" dt="2025-08-13T08:04:12.140" v="777" actId="1076"/>
          <ac:spMkLst>
            <pc:docMk/>
            <pc:sldMk cId="0" sldId="257"/>
            <ac:spMk id="97" creationId="{00000000-0000-0000-0000-000000000000}"/>
          </ac:spMkLst>
        </pc:spChg>
        <pc:picChg chg="add mod">
          <ac:chgData name="Lakshmipriya Narayan" userId="d8c84e7deb9ddfbf" providerId="LiveId" clId="{A121F5DF-C8F1-45AA-87BC-F93DC5FDB4B8}" dt="2025-08-12T04:31:50.836" v="76" actId="1076"/>
          <ac:picMkLst>
            <pc:docMk/>
            <pc:sldMk cId="0" sldId="257"/>
            <ac:picMk id="3" creationId="{3C18CE55-352D-1F5F-03C8-56CD8F102A5A}"/>
          </ac:picMkLst>
        </pc:picChg>
      </pc:sldChg>
      <pc:sldChg chg="modSp mod">
        <pc:chgData name="Lakshmipriya Narayan" userId="d8c84e7deb9ddfbf" providerId="LiveId" clId="{A121F5DF-C8F1-45AA-87BC-F93DC5FDB4B8}" dt="2025-08-12T06:33:11.157" v="694" actId="2711"/>
        <pc:sldMkLst>
          <pc:docMk/>
          <pc:sldMk cId="0" sldId="265"/>
        </pc:sldMkLst>
        <pc:spChg chg="mod">
          <ac:chgData name="Lakshmipriya Narayan" userId="d8c84e7deb9ddfbf" providerId="LiveId" clId="{A121F5DF-C8F1-45AA-87BC-F93DC5FDB4B8}" dt="2025-08-12T06:33:11.157" v="694" actId="2711"/>
          <ac:spMkLst>
            <pc:docMk/>
            <pc:sldMk cId="0" sldId="265"/>
            <ac:spMk id="145" creationId="{00000000-0000-0000-0000-000000000000}"/>
          </ac:spMkLst>
        </pc:spChg>
      </pc:sldChg>
      <pc:sldChg chg="modSp mod">
        <pc:chgData name="Lakshmipriya Narayan" userId="d8c84e7deb9ddfbf" providerId="LiveId" clId="{A121F5DF-C8F1-45AA-87BC-F93DC5FDB4B8}" dt="2025-08-13T06:13:11.719" v="766"/>
        <pc:sldMkLst>
          <pc:docMk/>
          <pc:sldMk cId="2856357337" sldId="268"/>
        </pc:sldMkLst>
        <pc:spChg chg="mod">
          <ac:chgData name="Lakshmipriya Narayan" userId="d8c84e7deb9ddfbf" providerId="LiveId" clId="{A121F5DF-C8F1-45AA-87BC-F93DC5FDB4B8}" dt="2025-08-13T06:13:11.719" v="766"/>
          <ac:spMkLst>
            <pc:docMk/>
            <pc:sldMk cId="2856357337" sldId="268"/>
            <ac:spMk id="5" creationId="{00000000-0000-0000-0000-000000000000}"/>
          </ac:spMkLst>
        </pc:spChg>
      </pc:sldChg>
      <pc:sldChg chg="modSp mod">
        <pc:chgData name="Lakshmipriya Narayan" userId="d8c84e7deb9ddfbf" providerId="LiveId" clId="{A121F5DF-C8F1-45AA-87BC-F93DC5FDB4B8}" dt="2025-08-12T05:17:14.936" v="312" actId="20577"/>
        <pc:sldMkLst>
          <pc:docMk/>
          <pc:sldMk cId="2143451837" sldId="269"/>
        </pc:sldMkLst>
        <pc:spChg chg="mod">
          <ac:chgData name="Lakshmipriya Narayan" userId="d8c84e7deb9ddfbf" providerId="LiveId" clId="{A121F5DF-C8F1-45AA-87BC-F93DC5FDB4B8}" dt="2025-08-12T05:17:14.936" v="312" actId="20577"/>
          <ac:spMkLst>
            <pc:docMk/>
            <pc:sldMk cId="2143451837" sldId="269"/>
            <ac:spMk id="96" creationId="{00000000-0000-0000-0000-000000000000}"/>
          </ac:spMkLst>
        </pc:spChg>
      </pc:sldChg>
      <pc:sldChg chg="addSp delSp modSp mod chgLayout">
        <pc:chgData name="Lakshmipriya Narayan" userId="d8c84e7deb9ddfbf" providerId="LiveId" clId="{A121F5DF-C8F1-45AA-87BC-F93DC5FDB4B8}" dt="2025-08-12T06:31:22.390" v="685" actId="1076"/>
        <pc:sldMkLst>
          <pc:docMk/>
          <pc:sldMk cId="479890276" sldId="270"/>
        </pc:sldMkLst>
        <pc:spChg chg="add mod ord">
          <ac:chgData name="Lakshmipriya Narayan" userId="d8c84e7deb9ddfbf" providerId="LiveId" clId="{A121F5DF-C8F1-45AA-87BC-F93DC5FDB4B8}" dt="2025-08-12T06:31:12.977" v="684" actId="700"/>
          <ac:spMkLst>
            <pc:docMk/>
            <pc:sldMk cId="479890276" sldId="270"/>
            <ac:spMk id="4" creationId="{01C8781A-4182-FE5A-2DA0-0BF198F29F55}"/>
          </ac:spMkLst>
        </pc:spChg>
        <pc:spChg chg="mod ord">
          <ac:chgData name="Lakshmipriya Narayan" userId="d8c84e7deb9ddfbf" providerId="LiveId" clId="{A121F5DF-C8F1-45AA-87BC-F93DC5FDB4B8}" dt="2025-08-12T06:31:12.977" v="684" actId="700"/>
          <ac:spMkLst>
            <pc:docMk/>
            <pc:sldMk cId="479890276" sldId="270"/>
            <ac:spMk id="114" creationId="{00000000-0000-0000-0000-000000000000}"/>
          </ac:spMkLst>
        </pc:spChg>
        <pc:picChg chg="add mod">
          <ac:chgData name="Lakshmipriya Narayan" userId="d8c84e7deb9ddfbf" providerId="LiveId" clId="{A121F5DF-C8F1-45AA-87BC-F93DC5FDB4B8}" dt="2025-08-12T06:31:22.390" v="685" actId="1076"/>
          <ac:picMkLst>
            <pc:docMk/>
            <pc:sldMk cId="479890276" sldId="270"/>
            <ac:picMk id="3" creationId="{E28B01E0-622C-C275-39C9-6B742F229AFA}"/>
          </ac:picMkLst>
        </pc:picChg>
      </pc:sldChg>
      <pc:sldChg chg="del">
        <pc:chgData name="Lakshmipriya Narayan" userId="d8c84e7deb9ddfbf" providerId="LiveId" clId="{A121F5DF-C8F1-45AA-87BC-F93DC5FDB4B8}" dt="2025-08-12T06:13:51.577" v="678" actId="2696"/>
        <pc:sldMkLst>
          <pc:docMk/>
          <pc:sldMk cId="2000455742" sldId="271"/>
        </pc:sldMkLst>
      </pc:sldChg>
      <pc:sldChg chg="addSp delSp modSp mod modClrScheme chgLayout">
        <pc:chgData name="Lakshmipriya Narayan" userId="d8c84e7deb9ddfbf" providerId="LiveId" clId="{A121F5DF-C8F1-45AA-87BC-F93DC5FDB4B8}" dt="2025-08-12T06:13:40.416" v="677" actId="1076"/>
        <pc:sldMkLst>
          <pc:docMk/>
          <pc:sldMk cId="3338832548" sldId="272"/>
        </pc:sldMkLst>
        <pc:spChg chg="add mod ord">
          <ac:chgData name="Lakshmipriya Narayan" userId="d8c84e7deb9ddfbf" providerId="LiveId" clId="{A121F5DF-C8F1-45AA-87BC-F93DC5FDB4B8}" dt="2025-08-12T06:13:29.039" v="675" actId="1076"/>
          <ac:spMkLst>
            <pc:docMk/>
            <pc:sldMk cId="3338832548" sldId="272"/>
            <ac:spMk id="6" creationId="{9EDF51A6-B20F-D514-C716-F62B7368467A}"/>
          </ac:spMkLst>
        </pc:spChg>
        <pc:spChg chg="add mod">
          <ac:chgData name="Lakshmipriya Narayan" userId="d8c84e7deb9ddfbf" providerId="LiveId" clId="{A121F5DF-C8F1-45AA-87BC-F93DC5FDB4B8}" dt="2025-08-12T06:13:40.416" v="677" actId="1076"/>
          <ac:spMkLst>
            <pc:docMk/>
            <pc:sldMk cId="3338832548" sldId="272"/>
            <ac:spMk id="8" creationId="{7E330314-9F96-DFF3-0B38-B156BDF0864D}"/>
          </ac:spMkLst>
        </pc:spChg>
        <pc:spChg chg="add mod">
          <ac:chgData name="Lakshmipriya Narayan" userId="d8c84e7deb9ddfbf" providerId="LiveId" clId="{A121F5DF-C8F1-45AA-87BC-F93DC5FDB4B8}" dt="2025-08-12T06:13:32.673" v="676" actId="1076"/>
          <ac:spMkLst>
            <pc:docMk/>
            <pc:sldMk cId="3338832548" sldId="272"/>
            <ac:spMk id="9" creationId="{1E044881-3F3F-65B0-8B6A-56E344504C21}"/>
          </ac:spMkLst>
        </pc:spChg>
        <pc:spChg chg="mod ord">
          <ac:chgData name="Lakshmipriya Narayan" userId="d8c84e7deb9ddfbf" providerId="LiveId" clId="{A121F5DF-C8F1-45AA-87BC-F93DC5FDB4B8}" dt="2025-08-12T06:10:08.093" v="563" actId="700"/>
          <ac:spMkLst>
            <pc:docMk/>
            <pc:sldMk cId="3338832548" sldId="272"/>
            <ac:spMk id="114" creationId="{00000000-0000-0000-0000-000000000000}"/>
          </ac:spMkLst>
        </pc:spChg>
        <pc:spChg chg="mod ord">
          <ac:chgData name="Lakshmipriya Narayan" userId="d8c84e7deb9ddfbf" providerId="LiveId" clId="{A121F5DF-C8F1-45AA-87BC-F93DC5FDB4B8}" dt="2025-08-12T06:10:08.118" v="565" actId="27636"/>
          <ac:spMkLst>
            <pc:docMk/>
            <pc:sldMk cId="3338832548" sldId="272"/>
            <ac:spMk id="115" creationId="{00000000-0000-0000-0000-000000000000}"/>
          </ac:spMkLst>
        </pc:spChg>
      </pc:sldChg>
      <pc:sldChg chg="addSp modSp mod">
        <pc:chgData name="Lakshmipriya Narayan" userId="d8c84e7deb9ddfbf" providerId="LiveId" clId="{A121F5DF-C8F1-45AA-87BC-F93DC5FDB4B8}" dt="2025-08-12T06:09:52.270" v="561" actId="5793"/>
        <pc:sldMkLst>
          <pc:docMk/>
          <pc:sldMk cId="1030816154" sldId="273"/>
        </pc:sldMkLst>
        <pc:spChg chg="mod">
          <ac:chgData name="Lakshmipriya Narayan" userId="d8c84e7deb9ddfbf" providerId="LiveId" clId="{A121F5DF-C8F1-45AA-87BC-F93DC5FDB4B8}" dt="2025-08-12T06:09:52.270" v="561" actId="5793"/>
          <ac:spMkLst>
            <pc:docMk/>
            <pc:sldMk cId="1030816154" sldId="273"/>
            <ac:spMk id="115" creationId="{00000000-0000-0000-0000-000000000000}"/>
          </ac:spMkLst>
        </pc:spChg>
      </pc:sldChg>
      <pc:sldChg chg="addSp delSp modSp mod">
        <pc:chgData name="Lakshmipriya Narayan" userId="d8c84e7deb9ddfbf" providerId="LiveId" clId="{A121F5DF-C8F1-45AA-87BC-F93DC5FDB4B8}" dt="2025-08-12T04:55:25.496" v="209" actId="20577"/>
        <pc:sldMkLst>
          <pc:docMk/>
          <pc:sldMk cId="2637979550" sldId="274"/>
        </pc:sldMkLst>
        <pc:spChg chg="add mod">
          <ac:chgData name="Lakshmipriya Narayan" userId="d8c84e7deb9ddfbf" providerId="LiveId" clId="{A121F5DF-C8F1-45AA-87BC-F93DC5FDB4B8}" dt="2025-08-12T04:55:22.338" v="202" actId="20577"/>
          <ac:spMkLst>
            <pc:docMk/>
            <pc:sldMk cId="2637979550" sldId="274"/>
            <ac:spMk id="3" creationId="{CEC842DF-0FCC-34FA-AF0C-C161EBC006E9}"/>
          </ac:spMkLst>
        </pc:spChg>
        <pc:spChg chg="mod">
          <ac:chgData name="Lakshmipriya Narayan" userId="d8c84e7deb9ddfbf" providerId="LiveId" clId="{A121F5DF-C8F1-45AA-87BC-F93DC5FDB4B8}" dt="2025-08-12T04:55:25.496" v="209" actId="20577"/>
          <ac:spMkLst>
            <pc:docMk/>
            <pc:sldMk cId="2637979550" sldId="274"/>
            <ac:spMk id="96" creationId="{00000000-0000-0000-0000-000000000000}"/>
          </ac:spMkLst>
        </pc:spChg>
        <pc:picChg chg="add mod">
          <ac:chgData name="Lakshmipriya Narayan" userId="d8c84e7deb9ddfbf" providerId="LiveId" clId="{A121F5DF-C8F1-45AA-87BC-F93DC5FDB4B8}" dt="2025-08-12T04:55:21.305" v="199" actId="14826"/>
          <ac:picMkLst>
            <pc:docMk/>
            <pc:sldMk cId="2637979550" sldId="274"/>
            <ac:picMk id="5" creationId="{31070750-3846-975B-AFA0-691B9B89C474}"/>
          </ac:picMkLst>
        </pc:picChg>
      </pc:sldChg>
      <pc:sldChg chg="addSp delSp modSp add mod ord">
        <pc:chgData name="Lakshmipriya Narayan" userId="d8c84e7deb9ddfbf" providerId="LiveId" clId="{A121F5DF-C8F1-45AA-87BC-F93DC5FDB4B8}" dt="2025-08-13T08:03:38.750" v="770" actId="1076"/>
        <pc:sldMkLst>
          <pc:docMk/>
          <pc:sldMk cId="442267019" sldId="275"/>
        </pc:sldMkLst>
        <pc:spChg chg="mod">
          <ac:chgData name="Lakshmipriya Narayan" userId="d8c84e7deb9ddfbf" providerId="LiveId" clId="{A121F5DF-C8F1-45AA-87BC-F93DC5FDB4B8}" dt="2025-08-12T04:56:21.904" v="250" actId="20577"/>
          <ac:spMkLst>
            <pc:docMk/>
            <pc:sldMk cId="442267019" sldId="275"/>
            <ac:spMk id="96" creationId="{C28634F8-791E-E3E8-EE26-BBFED58D212B}"/>
          </ac:spMkLst>
        </pc:spChg>
        <pc:spChg chg="add del mod">
          <ac:chgData name="Lakshmipriya Narayan" userId="d8c84e7deb9ddfbf" providerId="LiveId" clId="{A121F5DF-C8F1-45AA-87BC-F93DC5FDB4B8}" dt="2025-08-13T08:03:38.750" v="770" actId="1076"/>
          <ac:spMkLst>
            <pc:docMk/>
            <pc:sldMk cId="442267019" sldId="275"/>
            <ac:spMk id="97" creationId="{258CF9B8-5CA6-AA10-2B0F-92E17B5DC861}"/>
          </ac:spMkLst>
        </pc:spChg>
        <pc:picChg chg="mod">
          <ac:chgData name="Lakshmipriya Narayan" userId="d8c84e7deb9ddfbf" providerId="LiveId" clId="{A121F5DF-C8F1-45AA-87BC-F93DC5FDB4B8}" dt="2025-08-12T04:58:52.460" v="267" actId="14100"/>
          <ac:picMkLst>
            <pc:docMk/>
            <pc:sldMk cId="442267019" sldId="275"/>
            <ac:picMk id="3" creationId="{3319836B-C659-E709-29DA-935037D781A6}"/>
          </ac:picMkLst>
        </pc:picChg>
      </pc:sldChg>
      <pc:sldChg chg="addSp delSp modSp add mod">
        <pc:chgData name="Lakshmipriya Narayan" userId="d8c84e7deb9ddfbf" providerId="LiveId" clId="{A121F5DF-C8F1-45AA-87BC-F93DC5FDB4B8}" dt="2025-08-12T05:21:29.605" v="442" actId="20577"/>
        <pc:sldMkLst>
          <pc:docMk/>
          <pc:sldMk cId="2542787620" sldId="276"/>
        </pc:sldMkLst>
        <pc:spChg chg="add mod">
          <ac:chgData name="Lakshmipriya Narayan" userId="d8c84e7deb9ddfbf" providerId="LiveId" clId="{A121F5DF-C8F1-45AA-87BC-F93DC5FDB4B8}" dt="2025-08-12T05:19:00.313" v="401" actId="2711"/>
          <ac:spMkLst>
            <pc:docMk/>
            <pc:sldMk cId="2542787620" sldId="276"/>
            <ac:spMk id="4" creationId="{0981FB99-A346-8815-B3C4-900DD677FD22}"/>
          </ac:spMkLst>
        </pc:spChg>
        <pc:spChg chg="mod">
          <ac:chgData name="Lakshmipriya Narayan" userId="d8c84e7deb9ddfbf" providerId="LiveId" clId="{A121F5DF-C8F1-45AA-87BC-F93DC5FDB4B8}" dt="2025-08-12T05:21:29.605" v="442" actId="20577"/>
          <ac:spMkLst>
            <pc:docMk/>
            <pc:sldMk cId="2542787620" sldId="276"/>
            <ac:spMk id="96" creationId="{7097B712-7793-1A9A-5F00-E2E1DC91B4E4}"/>
          </ac:spMkLst>
        </pc:spChg>
        <pc:picChg chg="mod">
          <ac:chgData name="Lakshmipriya Narayan" userId="d8c84e7deb9ddfbf" providerId="LiveId" clId="{A121F5DF-C8F1-45AA-87BC-F93DC5FDB4B8}" dt="2025-08-12T05:14:34.716" v="308" actId="14100"/>
          <ac:picMkLst>
            <pc:docMk/>
            <pc:sldMk cId="2542787620" sldId="276"/>
            <ac:picMk id="3" creationId="{0DDE7F8D-647B-6C67-66B5-C2E6B358B10C}"/>
          </ac:picMkLst>
        </pc:picChg>
      </pc:sldChg>
      <pc:sldChg chg="addSp delSp modSp add mod">
        <pc:chgData name="Lakshmipriya Narayan" userId="d8c84e7deb9ddfbf" providerId="LiveId" clId="{A121F5DF-C8F1-45AA-87BC-F93DC5FDB4B8}" dt="2025-08-12T05:20:20.964" v="405" actId="14100"/>
        <pc:sldMkLst>
          <pc:docMk/>
          <pc:sldMk cId="2279882822" sldId="277"/>
        </pc:sldMkLst>
        <pc:spChg chg="add mod">
          <ac:chgData name="Lakshmipriya Narayan" userId="d8c84e7deb9ddfbf" providerId="LiveId" clId="{A121F5DF-C8F1-45AA-87BC-F93DC5FDB4B8}" dt="2025-08-12T05:19:12.803" v="402" actId="2711"/>
          <ac:spMkLst>
            <pc:docMk/>
            <pc:sldMk cId="2279882822" sldId="277"/>
            <ac:spMk id="6" creationId="{BFAE2CF3-1F30-1A7B-31DA-D570B7569C72}"/>
          </ac:spMkLst>
        </pc:spChg>
        <pc:spChg chg="mod">
          <ac:chgData name="Lakshmipriya Narayan" userId="d8c84e7deb9ddfbf" providerId="LiveId" clId="{A121F5DF-C8F1-45AA-87BC-F93DC5FDB4B8}" dt="2025-08-12T05:17:59.440" v="354" actId="20577"/>
          <ac:spMkLst>
            <pc:docMk/>
            <pc:sldMk cId="2279882822" sldId="277"/>
            <ac:spMk id="96" creationId="{D7C9DC49-BD11-8F28-2BDE-5C4CD3054F22}"/>
          </ac:spMkLst>
        </pc:spChg>
        <pc:picChg chg="mod">
          <ac:chgData name="Lakshmipriya Narayan" userId="d8c84e7deb9ddfbf" providerId="LiveId" clId="{A121F5DF-C8F1-45AA-87BC-F93DC5FDB4B8}" dt="2025-08-12T05:20:20.964" v="405" actId="14100"/>
          <ac:picMkLst>
            <pc:docMk/>
            <pc:sldMk cId="2279882822" sldId="277"/>
            <ac:picMk id="3" creationId="{95D7E3F3-4030-3500-340C-4EDC17943EC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lakshmipriyanarayan/CSE_4_PSCS_49"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latin typeface="Cambria" panose="02040503050406030204" pitchFamily="18" charset="0"/>
                <a:ea typeface="Cambria" panose="02040503050406030204" pitchFamily="18" charset="0"/>
              </a:rPr>
              <a:t>Al-BASED TOOL FOR PRELIMINARY DIAGNOSIS OF DERMATOLOGICAL MANIFESTATIONS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IN" sz="1800" dirty="0"/>
              <a:t>CSE_4</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002060"/>
                </a:solidFill>
                <a:latin typeface="Cambria" panose="02040503050406030204" pitchFamily="18" charset="0"/>
                <a:ea typeface="Cambria" panose="02040503050406030204" pitchFamily="18" charset="0"/>
                <a:cs typeface="Verdana"/>
                <a:sym typeface="Verdana"/>
              </a:rPr>
              <a:t>Mr. </a:t>
            </a:r>
            <a:r>
              <a:rPr lang="en-IN" sz="1700" b="1" dirty="0">
                <a:solidFill>
                  <a:srgbClr val="002060"/>
                </a:solidFill>
                <a:latin typeface="Cambria" panose="02040503050406030204" pitchFamily="18" charset="0"/>
                <a:ea typeface="Cambria" panose="02040503050406030204" pitchFamily="18" charset="0"/>
              </a:rPr>
              <a:t>Jerrin Joe Francis</a:t>
            </a:r>
            <a:endParaRPr sz="1700" b="1" dirty="0">
              <a:solidFill>
                <a:srgbClr val="002060"/>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922547854"/>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ea typeface="Cambria" panose="02040503050406030204" pitchFamily="18" charset="0"/>
                        </a:rPr>
                        <a:t>20221CSE0374</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LAKSHMI PRIYA NARAYAN</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20221CSE0046</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HEMANTH K</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20221CSE0045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dirty="0">
                          <a:latin typeface="Cambria" panose="02040503050406030204" pitchFamily="18" charset="0"/>
                          <a:ea typeface="Cambria" panose="02040503050406030204" pitchFamily="18" charset="0"/>
                        </a:rPr>
                        <a:t>VANKAM VISWA SAI</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Name of the Program:</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a:t>
            </a:r>
            <a:r>
              <a:rPr lang="en-US" sz="1800" b="1" i="0" u="none" strike="noStrike" cap="none" dirty="0">
                <a:solidFill>
                  <a:schemeClr val="tx1"/>
                </a:solidFill>
                <a:latin typeface="Cambria" panose="02040503050406030204" pitchFamily="18" charset="0"/>
                <a:ea typeface="Cambria" panose="02040503050406030204" pitchFamily="18" charset="0"/>
                <a:cs typeface="Arial" panose="020B0604020202020204" pitchFamily="34" charset="0"/>
                <a:sym typeface="Verdana"/>
              </a:rPr>
              <a:t>BTech-Computer Science and Engineering</a:t>
            </a:r>
          </a:p>
          <a:p>
            <a:pPr lvl="0">
              <a:buClr>
                <a:srgbClr val="17365D"/>
              </a:buClr>
              <a:buSzPct val="100000"/>
            </a:pPr>
            <a:r>
              <a:rPr lang="en-US" sz="1800" b="1" dirty="0">
                <a:solidFill>
                  <a:srgbClr val="002060"/>
                </a:solidFill>
                <a:latin typeface="Cambria" panose="02040503050406030204" pitchFamily="18" charset="0"/>
                <a:ea typeface="Cambria" panose="02040503050406030204" pitchFamily="18" charset="0"/>
                <a:cs typeface="Verdana"/>
                <a:sym typeface="Verdana"/>
              </a:rPr>
              <a:t>Name of the 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latin typeface="Cambria" panose="02040503050406030204" pitchFamily="18" charset="0"/>
                <a:ea typeface="Cambria" panose="02040503050406030204" pitchFamily="18" charset="0"/>
              </a:rPr>
              <a:t>Dr. Asif Mohammed</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Name of the Program Project Coordinator:</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latin typeface="Cambria" panose="02040503050406030204" pitchFamily="18" charset="0"/>
                <a:ea typeface="Cambria" panose="02040503050406030204" pitchFamily="18" charset="0"/>
              </a:rPr>
              <a:t>Dr. Jayavadivel Ravi</a:t>
            </a:r>
            <a:r>
              <a:rPr lang="en-IN" sz="1800" dirty="0"/>
              <a:t>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rgbClr val="002060"/>
                </a:solidFill>
                <a:latin typeface="Cambria" panose="02040503050406030204" pitchFamily="18" charset="0"/>
                <a:ea typeface="Cambria" panose="02040503050406030204" pitchFamily="18" charset="0"/>
                <a:cs typeface="Verdana"/>
                <a:sym typeface="Verdana"/>
              </a:rPr>
              <a:t>Name of the School Project Coordinators:</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PSCS_49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865238"/>
            <a:ext cx="10668000" cy="4849899"/>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1800" b="1" dirty="0">
                <a:latin typeface="Cambria" panose="02040503050406030204" pitchFamily="18" charset="0"/>
                <a:ea typeface="Cambria" panose="02040503050406030204" pitchFamily="18" charset="0"/>
              </a:rPr>
              <a:t>Organization: </a:t>
            </a:r>
            <a:r>
              <a:rPr lang="en-IN" sz="1800" dirty="0">
                <a:latin typeface="Cambria" panose="02040503050406030204" pitchFamily="18" charset="0"/>
                <a:ea typeface="Cambria" panose="02040503050406030204" pitchFamily="18" charset="0"/>
              </a:rPr>
              <a:t>Ministry of AYUSH</a:t>
            </a:r>
          </a:p>
          <a:p>
            <a:pPr marL="342900" lvl="0" indent="-190500" algn="just">
              <a:spcBef>
                <a:spcPts val="0"/>
              </a:spcBef>
              <a:buNone/>
            </a:pPr>
            <a:endParaRPr 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sz="1800" b="1" dirty="0">
                <a:latin typeface="Cambria" panose="02040503050406030204" pitchFamily="18" charset="0"/>
                <a:ea typeface="Cambria" panose="02040503050406030204" pitchFamily="18" charset="0"/>
              </a:rPr>
              <a:t>Category (Hardware / Software / Both) : </a:t>
            </a:r>
            <a:r>
              <a:rPr lang="en-US" sz="1800" dirty="0">
                <a:latin typeface="Cambria" panose="02040503050406030204" pitchFamily="18" charset="0"/>
                <a:ea typeface="Cambria" panose="02040503050406030204" pitchFamily="18" charset="0"/>
              </a:rPr>
              <a:t>Software</a:t>
            </a:r>
          </a:p>
          <a:p>
            <a:pPr marL="342900" lvl="0" indent="-190500" algn="just">
              <a:spcBef>
                <a:spcPts val="0"/>
              </a:spcBef>
              <a:buNone/>
            </a:pPr>
            <a:endParaRPr 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sz="1800" b="1" dirty="0">
                <a:latin typeface="Cambria" panose="02040503050406030204" pitchFamily="18" charset="0"/>
                <a:ea typeface="Cambria" panose="02040503050406030204" pitchFamily="18" charset="0"/>
              </a:rPr>
              <a:t>Problem Description: </a:t>
            </a:r>
            <a:r>
              <a:rPr lang="en-US" sz="1800" dirty="0">
                <a:latin typeface="Cambria" panose="02040503050406030204" pitchFamily="18" charset="0"/>
                <a:ea typeface="Cambria" panose="02040503050406030204" pitchFamily="18" charset="0"/>
              </a:rPr>
              <a:t>The Global Burden of Disease project has shown that skin diseases continue to be the 4th leading cause of nonfatal disease burden worldwide. These conditions are often the presenting face of more severe systemic illnesses, including HIV and neglected tropical diseases (NTD). such as elephantiasis and other lymphedema causing diseases. Additionally, skin disorders pose a significant threat to patients' well-being, mental health, ability to function, and social participation. However, it is very difficult to provide better dermatological care to under-served or resource poor regions in a cost-effective manner owing to unavailability of efficient diagnostic tools, lack of connectivity, and poor laboratory infrastructure etc. Moreover, there is also a scarcity of physicians with dermatological training. Even, preliminary screening of a dermatological manifestation seems to be an arduous task. Thus, developing an Artificial intelligence-based tool (through Image processing technique) for preliminary diagnosis of numerous dermatological conditions will prove to be a boon in the health care system.</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CEC842DF-0FCC-34FA-AF0C-C161EBC006E9}"/>
              </a:ext>
            </a:extLst>
          </p:cNvPr>
          <p:cNvSpPr>
            <a:spLocks noGrp="1" noChangeArrowheads="1"/>
          </p:cNvSpPr>
          <p:nvPr>
            <p:ph type="body" idx="1"/>
          </p:nvPr>
        </p:nvSpPr>
        <p:spPr bwMode="auto">
          <a:xfrm>
            <a:off x="655638" y="1934099"/>
            <a:ext cx="635476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Develop an AI </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for preliminary diagnosis of skin diseases.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Achieve high accuracy </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using deep learning (CNNs).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Ensure accessibility </a:t>
            </a: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by enabling offline use on standard mobile phones.</a:t>
            </a:r>
          </a:p>
        </p:txBody>
      </p:sp>
      <p:pic>
        <p:nvPicPr>
          <p:cNvPr id="5" name="Picture 4">
            <a:extLst>
              <a:ext uri="{FF2B5EF4-FFF2-40B4-BE49-F238E27FC236}">
                <a16:creationId xmlns:a16="http://schemas.microsoft.com/office/drawing/2014/main" id="{31070750-3846-975B-AFA0-691B9B89C474}"/>
              </a:ext>
            </a:extLst>
          </p:cNvPr>
          <p:cNvPicPr>
            <a:picLocks noChangeAspect="1"/>
          </p:cNvPicPr>
          <p:nvPr/>
        </p:nvPicPr>
        <p:blipFill>
          <a:blip r:embed="rId3"/>
          <a:stretch>
            <a:fillRect/>
          </a:stretch>
        </p:blipFill>
        <p:spPr>
          <a:xfrm>
            <a:off x="7010400" y="1179871"/>
            <a:ext cx="4876800" cy="4513006"/>
          </a:xfrm>
          <a:prstGeom prst="rect">
            <a:avLst/>
          </a:prstGeom>
        </p:spPr>
      </p:pic>
    </p:spTree>
    <p:extLst>
      <p:ext uri="{BB962C8B-B14F-4D97-AF65-F5344CB8AC3E}">
        <p14:creationId xmlns:p14="http://schemas.microsoft.com/office/powerpoint/2010/main" val="2637979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02816-3A57-1B16-C0D1-067D0FC01C2E}"/>
              </a:ext>
            </a:extLst>
          </p:cNvPr>
          <p:cNvSpPr>
            <a:spLocks noGrp="1"/>
          </p:cNvSpPr>
          <p:nvPr>
            <p:ph type="title"/>
          </p:nvPr>
        </p:nvSpPr>
        <p:spPr/>
        <p:txBody>
          <a:bodyPr/>
          <a:lstStyle/>
          <a:p>
            <a:r>
              <a:rPr lang="en-IN" dirty="0"/>
              <a:t>Existing Methods and Drawbacks</a:t>
            </a:r>
          </a:p>
        </p:txBody>
      </p:sp>
      <p:sp>
        <p:nvSpPr>
          <p:cNvPr id="3" name="Text Placeholder 2">
            <a:extLst>
              <a:ext uri="{FF2B5EF4-FFF2-40B4-BE49-F238E27FC236}">
                <a16:creationId xmlns:a16="http://schemas.microsoft.com/office/drawing/2014/main" id="{D0EE64C8-CC3D-621E-7FC5-7028E27D7090}"/>
              </a:ext>
            </a:extLst>
          </p:cNvPr>
          <p:cNvSpPr>
            <a:spLocks noGrp="1"/>
          </p:cNvSpPr>
          <p:nvPr>
            <p:ph type="body" idx="1"/>
          </p:nvPr>
        </p:nvSpPr>
        <p:spPr/>
        <p:txBody>
          <a:bodyPr/>
          <a:lstStyle/>
          <a:p>
            <a:endParaRPr lang="en-IN" dirty="0"/>
          </a:p>
        </p:txBody>
      </p:sp>
      <p:pic>
        <p:nvPicPr>
          <p:cNvPr id="9" name="Picture 8">
            <a:extLst>
              <a:ext uri="{FF2B5EF4-FFF2-40B4-BE49-F238E27FC236}">
                <a16:creationId xmlns:a16="http://schemas.microsoft.com/office/drawing/2014/main" id="{BFF39BE4-ECED-C055-40C5-B3509893627E}"/>
              </a:ext>
            </a:extLst>
          </p:cNvPr>
          <p:cNvPicPr>
            <a:picLocks noChangeAspect="1"/>
          </p:cNvPicPr>
          <p:nvPr/>
        </p:nvPicPr>
        <p:blipFill>
          <a:blip r:embed="rId2"/>
          <a:stretch>
            <a:fillRect/>
          </a:stretch>
        </p:blipFill>
        <p:spPr>
          <a:xfrm>
            <a:off x="894736" y="1252410"/>
            <a:ext cx="10484464" cy="4705938"/>
          </a:xfrm>
          <a:prstGeom prst="rect">
            <a:avLst/>
          </a:prstGeom>
        </p:spPr>
      </p:pic>
    </p:spTree>
    <p:extLst>
      <p:ext uri="{BB962C8B-B14F-4D97-AF65-F5344CB8AC3E}">
        <p14:creationId xmlns:p14="http://schemas.microsoft.com/office/powerpoint/2010/main" val="935794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9B38C-C118-0D46-17A3-A42698E5EE64}"/>
              </a:ext>
            </a:extLst>
          </p:cNvPr>
          <p:cNvSpPr>
            <a:spLocks noGrp="1"/>
          </p:cNvSpPr>
          <p:nvPr>
            <p:ph type="title"/>
          </p:nvPr>
        </p:nvSpPr>
        <p:spPr/>
        <p:txBody>
          <a:bodyPr/>
          <a:lstStyle/>
          <a:p>
            <a:r>
              <a:rPr lang="en-IN" dirty="0"/>
              <a:t>Summary and Critique</a:t>
            </a:r>
          </a:p>
        </p:txBody>
      </p:sp>
      <p:sp>
        <p:nvSpPr>
          <p:cNvPr id="3" name="Text Placeholder 2">
            <a:extLst>
              <a:ext uri="{FF2B5EF4-FFF2-40B4-BE49-F238E27FC236}">
                <a16:creationId xmlns:a16="http://schemas.microsoft.com/office/drawing/2014/main" id="{0020F1A9-46E7-E988-3BF1-F3B2FDF02C0C}"/>
              </a:ext>
            </a:extLst>
          </p:cNvPr>
          <p:cNvSpPr>
            <a:spLocks noGrp="1"/>
          </p:cNvSpPr>
          <p:nvPr>
            <p:ph type="body" idx="1"/>
          </p:nvPr>
        </p:nvSpPr>
        <p:spPr/>
        <p:txBody>
          <a:bodyPr>
            <a:normAutofit fontScale="92500"/>
          </a:bodyPr>
          <a:lstStyle/>
          <a:p>
            <a:pPr marL="76200" indent="0">
              <a:buNone/>
            </a:pPr>
            <a:r>
              <a:rPr lang="en-US" b="1" dirty="0"/>
              <a:t>Summary: </a:t>
            </a:r>
          </a:p>
          <a:p>
            <a:r>
              <a:rPr lang="en-US" b="1" dirty="0"/>
              <a:t>Narrow Scope:</a:t>
            </a:r>
            <a:r>
              <a:rPr lang="en-US" dirty="0"/>
              <a:t> Most models only classify a small number of diseases (often just 2-4), focusing almost exclusively on skin cancer.</a:t>
            </a:r>
          </a:p>
          <a:p>
            <a:r>
              <a:rPr lang="en-US" b="1" dirty="0"/>
              <a:t>Weak Data:</a:t>
            </a:r>
            <a:r>
              <a:rPr lang="en-US" dirty="0"/>
              <a:t> Many rely on small, private datasets, which hurts the generalizability and reproducibility of their results.</a:t>
            </a:r>
          </a:p>
          <a:p>
            <a:r>
              <a:rPr lang="en-US" b="1" dirty="0"/>
              <a:t>Impractical Design:</a:t>
            </a:r>
            <a:r>
              <a:rPr lang="en-US" dirty="0"/>
              <a:t> Several proposed models are too complex or use outdated technology, making them computationally expensive and unsuitable for real-world deployment.</a:t>
            </a:r>
          </a:p>
          <a:p>
            <a:pPr marL="76200" indent="0">
              <a:buNone/>
            </a:pPr>
            <a:r>
              <a:rPr lang="en-US" b="1" dirty="0"/>
              <a:t>Critique:</a:t>
            </a:r>
            <a:r>
              <a:rPr lang="en-US" dirty="0"/>
              <a:t> Collectively, these limitations show that most academic projects in this field are not yet practical for clinical use. There is a clear research gap and an opportunity to build a more comprehensive tool that classifies a wider range of relevant diseases and is engineered for efficient, real-world application.</a:t>
            </a:r>
          </a:p>
          <a:p>
            <a:endParaRPr lang="en-IN" dirty="0"/>
          </a:p>
        </p:txBody>
      </p:sp>
    </p:spTree>
    <p:extLst>
      <p:ext uri="{BB962C8B-B14F-4D97-AF65-F5344CB8AC3E}">
        <p14:creationId xmlns:p14="http://schemas.microsoft.com/office/powerpoint/2010/main" val="4011967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B5C4F-0570-ABDE-969E-B3B77E017F12}"/>
              </a:ext>
            </a:extLst>
          </p:cNvPr>
          <p:cNvSpPr>
            <a:spLocks noGrp="1"/>
          </p:cNvSpPr>
          <p:nvPr>
            <p:ph type="title"/>
          </p:nvPr>
        </p:nvSpPr>
        <p:spPr/>
        <p:txBody>
          <a:bodyPr/>
          <a:lstStyle/>
          <a:p>
            <a:r>
              <a:rPr lang="en-IN" dirty="0"/>
              <a:t>Proposed Methods and Feasible Study</a:t>
            </a:r>
          </a:p>
        </p:txBody>
      </p:sp>
      <p:sp>
        <p:nvSpPr>
          <p:cNvPr id="6" name="Rectangle 1">
            <a:extLst>
              <a:ext uri="{FF2B5EF4-FFF2-40B4-BE49-F238E27FC236}">
                <a16:creationId xmlns:a16="http://schemas.microsoft.com/office/drawing/2014/main" id="{8569A08F-0BE5-5760-6B02-0C3DB2E5138F}"/>
              </a:ext>
            </a:extLst>
          </p:cNvPr>
          <p:cNvSpPr>
            <a:spLocks noGrp="1" noChangeArrowheads="1"/>
          </p:cNvSpPr>
          <p:nvPr>
            <p:ph type="body" idx="1"/>
          </p:nvPr>
        </p:nvSpPr>
        <p:spPr bwMode="auto">
          <a:xfrm>
            <a:off x="812800" y="1017670"/>
            <a:ext cx="10520829" cy="531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Proposed Method: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We will develop a </a:t>
            </a:r>
            <a:r>
              <a:rPr kumimoji="0" lang="en-US" altLang="en-US" sz="1800" b="1" i="0" u="none" strike="noStrike" cap="none" normalizeH="0" baseline="0" dirty="0">
                <a:ln>
                  <a:noFill/>
                </a:ln>
                <a:solidFill>
                  <a:schemeClr val="tx1"/>
                </a:solidFill>
                <a:effectLst/>
                <a:latin typeface="Arial" panose="020B0604020202020204" pitchFamily="34" charset="0"/>
              </a:rPr>
              <a:t>web-based diagnostic support software</a:t>
            </a:r>
            <a:r>
              <a:rPr kumimoji="0" lang="en-US" altLang="en-US" sz="1800" b="0" i="0" u="none" strike="noStrike" cap="none" normalizeH="0" baseline="0" dirty="0">
                <a:ln>
                  <a:noFill/>
                </a:ln>
                <a:solidFill>
                  <a:schemeClr val="tx1"/>
                </a:solidFill>
                <a:effectLst/>
                <a:latin typeface="Arial" panose="020B0604020202020204" pitchFamily="34" charset="0"/>
              </a:rPr>
              <a:t> using a custom-trained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Convolutional Neural Network (CNN).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will classify </a:t>
            </a:r>
            <a:r>
              <a:rPr kumimoji="0" lang="en-US" altLang="en-US" sz="1800" b="1" i="0" u="none" strike="noStrike" cap="none" normalizeH="0" baseline="0" dirty="0">
                <a:ln>
                  <a:noFill/>
                </a:ln>
                <a:solidFill>
                  <a:schemeClr val="tx1"/>
                </a:solidFill>
                <a:effectLst/>
                <a:latin typeface="Arial" panose="020B0604020202020204" pitchFamily="34" charset="0"/>
              </a:rPr>
              <a:t>16 skin conditions</a:t>
            </a:r>
            <a:r>
              <a:rPr kumimoji="0" lang="en-US" altLang="en-US" sz="1800" b="0" i="0" u="none" strike="noStrike" cap="none" normalizeH="0" baseline="0" dirty="0">
                <a:ln>
                  <a:noFill/>
                </a:ln>
                <a:solidFill>
                  <a:schemeClr val="tx1"/>
                </a:solidFill>
                <a:effectLst/>
                <a:latin typeface="Arial" panose="020B0604020202020204" pitchFamily="34" charset="0"/>
              </a:rPr>
              <a:t>, including common lesions, inflammatory diseases,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and Neglected Tropical Diseases (NTDs).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 user uploads an image and receives a preliminary diagnosis with confidence scores and a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visual explanation.</a:t>
            </a:r>
          </a:p>
          <a:p>
            <a:r>
              <a:rPr lang="en-US" sz="1800" b="1" dirty="0">
                <a:latin typeface="Arial" panose="020B0604020202020204" pitchFamily="34" charset="0"/>
                <a:cs typeface="Arial" panose="020B0604020202020204" pitchFamily="34" charset="0"/>
              </a:rPr>
              <a:t>Innovation &amp; Justification:</a:t>
            </a:r>
            <a:endParaRPr lang="en-US" sz="1800" dirty="0">
              <a:latin typeface="Arial" panose="020B0604020202020204" pitchFamily="34" charset="0"/>
              <a:cs typeface="Arial" panose="020B0604020202020204" pitchFamily="34" charset="0"/>
            </a:endParaRPr>
          </a:p>
          <a:p>
            <a:pPr marL="76200" indent="0">
              <a:buNone/>
            </a:pPr>
            <a:r>
              <a:rPr lang="en-US" sz="1800" dirty="0">
                <a:latin typeface="Arial" panose="020B0604020202020204" pitchFamily="34" charset="0"/>
                <a:cs typeface="Arial" panose="020B0604020202020204" pitchFamily="34" charset="0"/>
              </a:rPr>
              <a:t>Hyper-Local Focus: Unlike existing tools, our model is uniquely trained on</a:t>
            </a:r>
          </a:p>
          <a:p>
            <a:pPr marL="76200" indent="0">
              <a:buNone/>
            </a:pPr>
            <a:r>
              <a:rPr lang="en-US" sz="1800" b="1" dirty="0">
                <a:latin typeface="Arial" panose="020B0604020202020204" pitchFamily="34" charset="0"/>
                <a:cs typeface="Arial" panose="020B0604020202020204" pitchFamily="34" charset="0"/>
              </a:rPr>
              <a:t>NTDs</a:t>
            </a:r>
            <a:r>
              <a:rPr lang="en-US" sz="1800" dirty="0">
                <a:latin typeface="Arial" panose="020B0604020202020204" pitchFamily="34" charset="0"/>
                <a:cs typeface="Arial" panose="020B0604020202020204" pitchFamily="34" charset="0"/>
              </a:rPr>
              <a:t> and other conditions prevalent in the Indian subcontinent, addressing a </a:t>
            </a:r>
          </a:p>
          <a:p>
            <a:pPr marL="76200" indent="0">
              <a:buNone/>
            </a:pPr>
            <a:r>
              <a:rPr lang="en-US" sz="1800" dirty="0">
                <a:latin typeface="Arial" panose="020B0604020202020204" pitchFamily="34" charset="0"/>
                <a:cs typeface="Arial" panose="020B0604020202020204" pitchFamily="34" charset="0"/>
              </a:rPr>
              <a:t>critical healthcare gap.</a:t>
            </a:r>
          </a:p>
          <a:p>
            <a:pPr marL="76200" indent="0">
              <a:buNone/>
            </a:pPr>
            <a:r>
              <a:rPr lang="en-US" sz="1800" dirty="0">
                <a:latin typeface="Arial" panose="020B0604020202020204" pitchFamily="34" charset="0"/>
                <a:cs typeface="Arial" panose="020B0604020202020204" pitchFamily="34" charset="0"/>
              </a:rPr>
              <a:t>Explainable AI (XAI): We will implement </a:t>
            </a:r>
            <a:r>
              <a:rPr lang="en-US" sz="1800" b="1" dirty="0">
                <a:latin typeface="Arial" panose="020B0604020202020204" pitchFamily="34" charset="0"/>
                <a:cs typeface="Arial" panose="020B0604020202020204" pitchFamily="34" charset="0"/>
              </a:rPr>
              <a:t>Grad-CAM</a:t>
            </a:r>
            <a:r>
              <a:rPr lang="en-US" sz="1800" dirty="0">
                <a:latin typeface="Arial" panose="020B0604020202020204" pitchFamily="34" charset="0"/>
                <a:cs typeface="Arial" panose="020B0604020202020204" pitchFamily="34" charset="0"/>
              </a:rPr>
              <a:t> to generate heatmaps that highlight the</a:t>
            </a:r>
          </a:p>
          <a:p>
            <a:pPr marL="76200" indent="0">
              <a:buNone/>
            </a:pPr>
            <a:r>
              <a:rPr lang="en-US" sz="1800" dirty="0">
                <a:latin typeface="Arial" panose="020B0604020202020204" pitchFamily="34" charset="0"/>
                <a:cs typeface="Arial" panose="020B0604020202020204" pitchFamily="34" charset="0"/>
              </a:rPr>
              <a:t> features the AI used for its diagnosis, building user trust and providing deeper insight.</a:t>
            </a:r>
          </a:p>
          <a:p>
            <a:pPr marL="76200" indent="0">
              <a:buNone/>
            </a:pPr>
            <a:r>
              <a:rPr lang="en-US" sz="1800" dirty="0">
                <a:latin typeface="Arial" panose="020B0604020202020204" pitchFamily="34" charset="0"/>
                <a:cs typeface="Arial" panose="020B0604020202020204" pitchFamily="34" charset="0"/>
              </a:rPr>
              <a:t>High Impact: The solution empowers non-specialist healthcare workers, directly addressing a current</a:t>
            </a:r>
          </a:p>
          <a:p>
            <a:pPr marL="76200" indent="0">
              <a:buNone/>
            </a:pPr>
            <a:r>
              <a:rPr lang="en-US" sz="1800" dirty="0">
                <a:latin typeface="Arial" panose="020B0604020202020204" pitchFamily="34" charset="0"/>
                <a:cs typeface="Arial" panose="020B0604020202020204" pitchFamily="34" charset="0"/>
              </a:rPr>
              <a:t> and relevant societal need.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6233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2CD8-730C-0225-5CB9-1295C4A148C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94CF6D5-15C3-E14C-C7E1-AA04BA952C73}"/>
              </a:ext>
            </a:extLst>
          </p:cNvPr>
          <p:cNvSpPr>
            <a:spLocks noGrp="1"/>
          </p:cNvSpPr>
          <p:nvPr>
            <p:ph type="body" idx="1"/>
          </p:nvPr>
        </p:nvSpPr>
        <p:spPr/>
        <p:txBody>
          <a:bodyPr/>
          <a:lstStyle/>
          <a:p>
            <a:pPr marL="76200" indent="0">
              <a:buNone/>
            </a:pPr>
            <a:r>
              <a:rPr lang="en-US" b="1" dirty="0">
                <a:latin typeface="Arial" panose="020B0604020202020204" pitchFamily="34" charset="0"/>
                <a:cs typeface="Arial" panose="020B0604020202020204" pitchFamily="34" charset="0"/>
              </a:rPr>
              <a:t>Feasibility Study:</a:t>
            </a: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Technology:</a:t>
            </a:r>
            <a:r>
              <a:rPr lang="en-US" dirty="0">
                <a:latin typeface="Arial" panose="020B0604020202020204" pitchFamily="34" charset="0"/>
                <a:cs typeface="Arial" panose="020B0604020202020204" pitchFamily="34" charset="0"/>
              </a:rPr>
              <a:t> The project uses a standard, open-source stack (</a:t>
            </a:r>
            <a:r>
              <a:rPr lang="en-US" b="1" dirty="0">
                <a:latin typeface="Arial" panose="020B0604020202020204" pitchFamily="34" charset="0"/>
                <a:cs typeface="Arial" panose="020B0604020202020204" pitchFamily="34" charset="0"/>
              </a:rPr>
              <a:t>Python, TensorFlow, Flask</a:t>
            </a:r>
            <a:r>
              <a:rPr lang="en-US" dirty="0">
                <a:latin typeface="Arial" panose="020B0604020202020204" pitchFamily="34" charset="0"/>
                <a:cs typeface="Arial" panose="020B0604020202020204" pitchFamily="34" charset="0"/>
              </a:rPr>
              <a:t>) with model training on accessible cloud platforms like </a:t>
            </a:r>
            <a:r>
              <a:rPr lang="en-US" b="1" dirty="0">
                <a:latin typeface="Arial" panose="020B0604020202020204" pitchFamily="34" charset="0"/>
                <a:cs typeface="Arial" panose="020B0604020202020204" pitchFamily="34" charset="0"/>
              </a:rPr>
              <a:t>Google </a:t>
            </a:r>
            <a:r>
              <a:rPr lang="en-US" b="1" dirty="0" err="1">
                <a:latin typeface="Arial" panose="020B0604020202020204" pitchFamily="34" charset="0"/>
                <a:cs typeface="Arial" panose="020B0604020202020204" pitchFamily="34" charset="0"/>
              </a:rPr>
              <a:t>Colab</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Cost:</a:t>
            </a:r>
            <a:r>
              <a:rPr lang="en-US" dirty="0">
                <a:latin typeface="Arial" panose="020B0604020202020204" pitchFamily="34" charset="0"/>
                <a:cs typeface="Arial" panose="020B0604020202020204" pitchFamily="34" charset="0"/>
              </a:rPr>
              <a:t> There are </a:t>
            </a:r>
            <a:r>
              <a:rPr lang="en-US" b="1" dirty="0">
                <a:latin typeface="Arial" panose="020B0604020202020204" pitchFamily="34" charset="0"/>
                <a:cs typeface="Arial" panose="020B0604020202020204" pitchFamily="34" charset="0"/>
              </a:rPr>
              <a:t>zero software licensing costs</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Resources:</a:t>
            </a:r>
            <a:r>
              <a:rPr lang="en-US" dirty="0">
                <a:latin typeface="Arial" panose="020B0604020202020204" pitchFamily="34" charset="0"/>
                <a:cs typeface="Arial" panose="020B0604020202020204" pitchFamily="34" charset="0"/>
              </a:rPr>
              <a:t> We will leverage large public datasets (e.g., HAM10000) and augment them with targeted image collection for the NTD classes.</a:t>
            </a:r>
          </a:p>
          <a:p>
            <a:endParaRPr lang="en-IN" dirty="0"/>
          </a:p>
        </p:txBody>
      </p:sp>
    </p:spTree>
    <p:extLst>
      <p:ext uri="{BB962C8B-B14F-4D97-AF65-F5344CB8AC3E}">
        <p14:creationId xmlns:p14="http://schemas.microsoft.com/office/powerpoint/2010/main" val="717284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D2277-36F6-5073-9DBC-9A69E27E421B}"/>
              </a:ext>
            </a:extLst>
          </p:cNvPr>
          <p:cNvSpPr>
            <a:spLocks noGrp="1"/>
          </p:cNvSpPr>
          <p:nvPr>
            <p:ph type="title"/>
          </p:nvPr>
        </p:nvSpPr>
        <p:spPr/>
        <p:txBody>
          <a:bodyPr/>
          <a:lstStyle/>
          <a:p>
            <a:r>
              <a:rPr lang="en-IN" dirty="0"/>
              <a:t>Architecture Diagram</a:t>
            </a:r>
          </a:p>
        </p:txBody>
      </p:sp>
      <p:sp>
        <p:nvSpPr>
          <p:cNvPr id="3" name="Text Placeholder 2">
            <a:extLst>
              <a:ext uri="{FF2B5EF4-FFF2-40B4-BE49-F238E27FC236}">
                <a16:creationId xmlns:a16="http://schemas.microsoft.com/office/drawing/2014/main" id="{8C54D9CC-DC49-1B30-2363-946559A1A9E4}"/>
              </a:ext>
            </a:extLst>
          </p:cNvPr>
          <p:cNvSpPr>
            <a:spLocks noGrp="1"/>
          </p:cNvSpPr>
          <p:nvPr>
            <p:ph type="body" idx="1"/>
          </p:nvPr>
        </p:nvSpPr>
        <p:spPr/>
        <p:txBody>
          <a:bodyPr/>
          <a:lstStyle/>
          <a:p>
            <a:endParaRPr lang="en-IN" dirty="0"/>
          </a:p>
        </p:txBody>
      </p:sp>
      <p:pic>
        <p:nvPicPr>
          <p:cNvPr id="5" name="Picture 4" descr="A diagram of a web application&#10;&#10;AI-generated content may be incorrect.">
            <a:extLst>
              <a:ext uri="{FF2B5EF4-FFF2-40B4-BE49-F238E27FC236}">
                <a16:creationId xmlns:a16="http://schemas.microsoft.com/office/drawing/2014/main" id="{56A55179-03A6-28C4-A2AA-8F891B7A7465}"/>
              </a:ext>
            </a:extLst>
          </p:cNvPr>
          <p:cNvPicPr>
            <a:picLocks noChangeAspect="1"/>
          </p:cNvPicPr>
          <p:nvPr/>
        </p:nvPicPr>
        <p:blipFill>
          <a:blip r:embed="rId2"/>
          <a:stretch>
            <a:fillRect/>
          </a:stretch>
        </p:blipFill>
        <p:spPr>
          <a:xfrm>
            <a:off x="3713316" y="1052386"/>
            <a:ext cx="4572000" cy="5134230"/>
          </a:xfrm>
          <a:prstGeom prst="rect">
            <a:avLst/>
          </a:prstGeom>
        </p:spPr>
      </p:pic>
    </p:spTree>
    <p:extLst>
      <p:ext uri="{BB962C8B-B14F-4D97-AF65-F5344CB8AC3E}">
        <p14:creationId xmlns:p14="http://schemas.microsoft.com/office/powerpoint/2010/main" val="1371417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CCFDB-0E35-E185-183B-D0292FC8C31E}"/>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D358E6D6-627F-4EC0-C9EB-66F0821D6B31}"/>
              </a:ext>
            </a:extLst>
          </p:cNvPr>
          <p:cNvSpPr>
            <a:spLocks noGrp="1"/>
          </p:cNvSpPr>
          <p:nvPr>
            <p:ph type="body" idx="1"/>
          </p:nvPr>
        </p:nvSpPr>
        <p:spPr/>
        <p:txBody>
          <a:bodyPr>
            <a:normAutofit fontScale="85000" lnSpcReduction="10000"/>
          </a:bodyPr>
          <a:lstStyle/>
          <a:p>
            <a:pPr marL="76200" indent="0">
              <a:buNone/>
            </a:pPr>
            <a:r>
              <a:rPr lang="en-US" dirty="0">
                <a:latin typeface="Arial" panose="020B0604020202020204" pitchFamily="34" charset="0"/>
                <a:cs typeface="Arial" panose="020B0604020202020204" pitchFamily="34" charset="0"/>
              </a:rPr>
              <a:t>Our proposed system is designed with a modular architecture to ensure clarity and scalability. The key modules are:</a:t>
            </a:r>
          </a:p>
          <a:p>
            <a:r>
              <a:rPr lang="en-US" b="1" dirty="0">
                <a:latin typeface="Arial" panose="020B0604020202020204" pitchFamily="34" charset="0"/>
                <a:cs typeface="Arial" panose="020B0604020202020204" pitchFamily="34" charset="0"/>
              </a:rPr>
              <a:t>User Interface (UI) &amp; Image Upload Module:</a:t>
            </a:r>
            <a:endParaRPr lang="en-US"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Functionality:</a:t>
            </a:r>
            <a:r>
              <a:rPr lang="en-US" dirty="0">
                <a:latin typeface="Arial" panose="020B0604020202020204" pitchFamily="34" charset="0"/>
                <a:cs typeface="Arial" panose="020B0604020202020204" pitchFamily="34" charset="0"/>
              </a:rPr>
              <a:t> Provides a clean, user-friendly web interface for healthcare workers to securely upload an image of a patient's skin lesion.</a:t>
            </a:r>
          </a:p>
          <a:p>
            <a:r>
              <a:rPr lang="en-US" b="1" dirty="0">
                <a:latin typeface="Arial" panose="020B0604020202020204" pitchFamily="34" charset="0"/>
                <a:cs typeface="Arial" panose="020B0604020202020204" pitchFamily="34" charset="0"/>
              </a:rPr>
              <a:t>Image Preprocessing Module:</a:t>
            </a:r>
            <a:endParaRPr lang="en-US"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Functionality:</a:t>
            </a:r>
            <a:r>
              <a:rPr lang="en-US" dirty="0">
                <a:latin typeface="Arial" panose="020B0604020202020204" pitchFamily="34" charset="0"/>
                <a:cs typeface="Arial" panose="020B0604020202020204" pitchFamily="34" charset="0"/>
              </a:rPr>
              <a:t> Automatically receives the uploaded image and prepares it for the AI model. This includes resizing to the required input dimensions, normalization of pixel values, and any necessary cropping or enhancement.</a:t>
            </a:r>
          </a:p>
          <a:p>
            <a:r>
              <a:rPr lang="en-US" b="1" dirty="0">
                <a:latin typeface="Arial" panose="020B0604020202020204" pitchFamily="34" charset="0"/>
                <a:cs typeface="Arial" panose="020B0604020202020204" pitchFamily="34" charset="0"/>
              </a:rPr>
              <a:t>AI Inference Engine:</a:t>
            </a:r>
            <a:endParaRPr lang="en-US"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Functionality:</a:t>
            </a:r>
            <a:r>
              <a:rPr lang="en-US" dirty="0">
                <a:latin typeface="Arial" panose="020B0604020202020204" pitchFamily="34" charset="0"/>
                <a:cs typeface="Arial" panose="020B0604020202020204" pitchFamily="34" charset="0"/>
              </a:rPr>
              <a:t> This is the core of the system. It takes the preprocessed image and feeds it into our pre-trained, 16-class Convolutional Neural Network (CNN) to generate a prediction vector containing confidence scores for each disease.</a:t>
            </a:r>
          </a:p>
          <a:p>
            <a:r>
              <a:rPr lang="en-US" b="1" dirty="0">
                <a:latin typeface="Arial" panose="020B0604020202020204" pitchFamily="34" charset="0"/>
                <a:cs typeface="Arial" panose="020B0604020202020204" pitchFamily="34" charset="0"/>
              </a:rPr>
              <a:t>Results &amp; Visualization Module:</a:t>
            </a:r>
            <a:endParaRPr lang="en-US"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Functionality:</a:t>
            </a:r>
            <a:r>
              <a:rPr lang="en-US" dirty="0">
                <a:latin typeface="Arial" panose="020B0604020202020204" pitchFamily="34" charset="0"/>
                <a:cs typeface="Arial" panose="020B0604020202020204" pitchFamily="34" charset="0"/>
              </a:rPr>
              <a:t> Renders the AI model's output in an easy-to-understand format. It displays the top 3-5 potential diagnoses with their confidence percentages and generates a </a:t>
            </a:r>
            <a:r>
              <a:rPr lang="en-US" b="1" dirty="0">
                <a:latin typeface="Arial" panose="020B0604020202020204" pitchFamily="34" charset="0"/>
                <a:cs typeface="Arial" panose="020B0604020202020204" pitchFamily="34" charset="0"/>
              </a:rPr>
              <a:t>Grad-CAM heatmap</a:t>
            </a:r>
            <a:r>
              <a:rPr lang="en-US" dirty="0">
                <a:latin typeface="Arial" panose="020B0604020202020204" pitchFamily="34" charset="0"/>
                <a:cs typeface="Arial" panose="020B0604020202020204" pitchFamily="34" charset="0"/>
              </a:rPr>
              <a:t> overlay on the original image to visually explain the model's reasoning.</a:t>
            </a:r>
          </a:p>
          <a:p>
            <a:endParaRPr lang="en-IN" dirty="0"/>
          </a:p>
        </p:txBody>
      </p:sp>
    </p:spTree>
    <p:extLst>
      <p:ext uri="{BB962C8B-B14F-4D97-AF65-F5344CB8AC3E}">
        <p14:creationId xmlns:p14="http://schemas.microsoft.com/office/powerpoint/2010/main" val="223757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630903" y="168275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 </a:t>
            </a:r>
          </a:p>
          <a:p>
            <a:pPr marL="342900" indent="-190500" algn="just">
              <a:spcBef>
                <a:spcPts val="0"/>
              </a:spcBef>
              <a:buSzPct val="100000"/>
              <a:buNone/>
            </a:pPr>
            <a:r>
              <a:rPr lang="en-IN" dirty="0">
                <a:hlinkClick r:id="rId3"/>
              </a:rPr>
              <a:t>lakshmipriyanarayan/CSE_4_PSCS_49</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prstGeom prst="rect">
            <a:avLst/>
          </a:prstGeom>
          <a:noFill/>
          <a:ln>
            <a:noFill/>
          </a:ln>
        </p:spPr>
        <p:txBody>
          <a:bodyPr spcFirstLastPara="1" wrap="square" lIns="91425" tIns="45700" rIns="91425" bIns="45700" anchor="t" anchorCtr="0">
            <a:normAutofit fontScale="77500" lnSpcReduction="20000"/>
          </a:bodyPr>
          <a:lstStyle/>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6" name="Text Placeholder 5">
            <a:extLst>
              <a:ext uri="{FF2B5EF4-FFF2-40B4-BE49-F238E27FC236}">
                <a16:creationId xmlns:a16="http://schemas.microsoft.com/office/drawing/2014/main" id="{9EDF51A6-B20F-D514-C716-F62B7368467A}"/>
              </a:ext>
            </a:extLst>
          </p:cNvPr>
          <p:cNvSpPr>
            <a:spLocks noGrp="1"/>
          </p:cNvSpPr>
          <p:nvPr>
            <p:ph type="body" idx="3"/>
          </p:nvPr>
        </p:nvSpPr>
        <p:spPr>
          <a:xfrm>
            <a:off x="609600" y="1041066"/>
            <a:ext cx="10972669" cy="639900"/>
          </a:xfrm>
        </p:spPr>
        <p:txBody>
          <a:bodyPr>
            <a:normAutofit fontScale="77500" lnSpcReduction="20000"/>
          </a:bodyPr>
          <a:lstStyle/>
          <a:p>
            <a:r>
              <a:rPr lang="en-IN" dirty="0"/>
              <a:t>Software and Hardware Requirements:</a:t>
            </a:r>
          </a:p>
        </p:txBody>
      </p:sp>
      <p:sp>
        <p:nvSpPr>
          <p:cNvPr id="8" name="Rectangle 1">
            <a:extLst>
              <a:ext uri="{FF2B5EF4-FFF2-40B4-BE49-F238E27FC236}">
                <a16:creationId xmlns:a16="http://schemas.microsoft.com/office/drawing/2014/main" id="{7E330314-9F96-DFF3-0B38-B156BDF0864D}"/>
              </a:ext>
            </a:extLst>
          </p:cNvPr>
          <p:cNvSpPr>
            <a:spLocks noGrp="1" noChangeArrowheads="1"/>
          </p:cNvSpPr>
          <p:nvPr>
            <p:ph type="body" idx="2"/>
          </p:nvPr>
        </p:nvSpPr>
        <p:spPr bwMode="auto">
          <a:xfrm>
            <a:off x="609600" y="1929732"/>
            <a:ext cx="477887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HARDWARE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Development PC/Laptop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CPU: Intel i5 / AMD Ryzen 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RAM: 16 GB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GPU: NVIDIA (6GB+ VRAM)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Storage: 512 GB+ SSD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Android Smartphone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Cloud Alternative</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Google </a:t>
            </a:r>
            <a:r>
              <a:rPr kumimoji="0" lang="en-US" altLang="en-US" sz="1800" b="0" i="0" u="none" strike="noStrike" cap="none" normalizeH="0" baseline="0" dirty="0" err="1">
                <a:ln>
                  <a:noFill/>
                </a:ln>
                <a:solidFill>
                  <a:schemeClr val="tx1"/>
                </a:solidFill>
                <a:effectLst/>
                <a:latin typeface="Arial" panose="020B0604020202020204" pitchFamily="34" charset="0"/>
              </a:rPr>
              <a:t>Colab</a:t>
            </a:r>
            <a:r>
              <a:rPr kumimoji="0" lang="en-US" altLang="en-US" sz="1800" b="0" i="0" u="none" strike="noStrike" cap="none" normalizeH="0" baseline="0" dirty="0">
                <a:ln>
                  <a:noFill/>
                </a:ln>
                <a:solidFill>
                  <a:schemeClr val="tx1"/>
                </a:solidFill>
                <a:effectLst/>
                <a:latin typeface="Arial" panose="020B0604020202020204" pitchFamily="34" charset="0"/>
              </a:rPr>
              <a:t> (for GPU)</a:t>
            </a:r>
          </a:p>
        </p:txBody>
      </p:sp>
      <p:sp>
        <p:nvSpPr>
          <p:cNvPr id="9" name="Rectangle 2">
            <a:extLst>
              <a:ext uri="{FF2B5EF4-FFF2-40B4-BE49-F238E27FC236}">
                <a16:creationId xmlns:a16="http://schemas.microsoft.com/office/drawing/2014/main" id="{1E044881-3F3F-65B0-8B6A-56E344504C21}"/>
              </a:ext>
            </a:extLst>
          </p:cNvPr>
          <p:cNvSpPr>
            <a:spLocks noGrp="1" noChangeArrowheads="1"/>
          </p:cNvSpPr>
          <p:nvPr>
            <p:ph type="body" idx="4"/>
          </p:nvPr>
        </p:nvSpPr>
        <p:spPr bwMode="auto">
          <a:xfrm>
            <a:off x="6095934" y="1929732"/>
            <a:ext cx="365035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SOFTWARE REQUIREMENTS: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OS:</a:t>
            </a:r>
            <a:r>
              <a:rPr kumimoji="0" lang="en-US" altLang="en-US" sz="1800" b="0" i="0" u="none" strike="noStrike" cap="none" normalizeH="0" baseline="0" dirty="0">
                <a:ln>
                  <a:noFill/>
                </a:ln>
                <a:solidFill>
                  <a:schemeClr val="tx1"/>
                </a:solidFill>
                <a:effectLst/>
                <a:latin typeface="Arial" panose="020B0604020202020204" pitchFamily="34" charset="0"/>
              </a:rPr>
              <a:t> Windows / macOS / Linux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Core Tools: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 Studio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Git &amp; GitHub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Android Studio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Stack (Python):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TensorFlow, </a:t>
            </a:r>
            <a:r>
              <a:rPr kumimoji="0" lang="en-US" altLang="en-US" sz="1800" b="0" i="0" u="none" strike="noStrike" cap="none" normalizeH="0" baseline="0" dirty="0" err="1">
                <a:ln>
                  <a:noFill/>
                </a:ln>
                <a:solidFill>
                  <a:schemeClr val="tx1"/>
                </a:solidFill>
                <a:effectLst/>
                <a:latin typeface="Arial" panose="020B0604020202020204" pitchFamily="34" charset="0"/>
              </a:rPr>
              <a:t>Keras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TensorFlow Lite (TFLite)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OpenCV, Pillow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Scikit-learn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Mobile App Stack (Flutter):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Flutter SDK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Dart SDK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8832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01C8781A-4182-FE5A-2DA0-0BF198F29F55}"/>
              </a:ext>
            </a:extLst>
          </p:cNvPr>
          <p:cNvSpPr>
            <a:spLocks noGrp="1"/>
          </p:cNvSpPr>
          <p:nvPr>
            <p:ph type="body" idx="1"/>
          </p:nvPr>
        </p:nvSpPr>
        <p:spPr/>
        <p:txBody>
          <a:bodyPr/>
          <a:lstStyle/>
          <a:p>
            <a:endParaRPr lang="en-IN" dirty="0"/>
          </a:p>
        </p:txBody>
      </p:sp>
      <p:pic>
        <p:nvPicPr>
          <p:cNvPr id="3" name="Picture 2" descr="A graph with a bar chart&#10;&#10;AI-generated content may be incorrect.">
            <a:extLst>
              <a:ext uri="{FF2B5EF4-FFF2-40B4-BE49-F238E27FC236}">
                <a16:creationId xmlns:a16="http://schemas.microsoft.com/office/drawing/2014/main" id="{E28B01E0-622C-C275-39C9-6B742F229AFA}"/>
              </a:ext>
            </a:extLst>
          </p:cNvPr>
          <p:cNvPicPr>
            <a:picLocks noChangeAspect="1"/>
          </p:cNvPicPr>
          <p:nvPr/>
        </p:nvPicPr>
        <p:blipFill>
          <a:blip r:embed="rId3"/>
          <a:stretch>
            <a:fillRect/>
          </a:stretch>
        </p:blipFill>
        <p:spPr>
          <a:xfrm>
            <a:off x="914390" y="1143001"/>
            <a:ext cx="9144019" cy="4667870"/>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55000" lnSpcReduction="20000"/>
          </a:bodyPr>
          <a:lstStyle/>
          <a:p>
            <a:r>
              <a:rPr lang="en-IN" dirty="0"/>
              <a:t>[1] S. S. H. K. S. E. Jayathilake and D. U. J. </a:t>
            </a:r>
            <a:r>
              <a:rPr lang="en-IN" dirty="0" err="1"/>
              <a:t>Sonnadara</a:t>
            </a:r>
            <a:r>
              <a:rPr lang="en-IN" dirty="0"/>
              <a:t>, "A Deep Learning Approach for Skin Disease Classification with a Novel Dataset," in </a:t>
            </a:r>
            <a:r>
              <a:rPr lang="en-IN" i="1" dirty="0"/>
              <a:t>2022 IEEE 16th International Conference on Application of Information and Communication Technologies (AICT)</a:t>
            </a:r>
            <a:r>
              <a:rPr lang="en-IN" dirty="0"/>
              <a:t>, 2022, pp. 1-6.</a:t>
            </a:r>
          </a:p>
          <a:p>
            <a:r>
              <a:rPr lang="en-IN" dirty="0"/>
              <a:t>[2] M. I. L. S. T. Z. B. M. Ali, M. A. H. Talukder, and S. A. Hossain, "A Comprehensive Review on Skin Cancer Detection Using Deep Learning," in </a:t>
            </a:r>
            <a:r>
              <a:rPr lang="en-IN" i="1" dirty="0"/>
              <a:t>2023 IEEE 14th Annual Ubiquitous Computing, Electronics &amp; Mobile Communication Conference (UEMCON)</a:t>
            </a:r>
            <a:r>
              <a:rPr lang="en-IN" dirty="0"/>
              <a:t>, 2023, pp. 0544-0550.</a:t>
            </a:r>
          </a:p>
          <a:p>
            <a:r>
              <a:rPr lang="en-IN" dirty="0"/>
              <a:t>[3] A. </a:t>
            </a:r>
            <a:r>
              <a:rPr lang="en-IN" dirty="0" err="1"/>
              <a:t>Adegun</a:t>
            </a:r>
            <a:r>
              <a:rPr lang="en-IN" dirty="0"/>
              <a:t> and S. </a:t>
            </a:r>
            <a:r>
              <a:rPr lang="en-IN" dirty="0" err="1"/>
              <a:t>Viriri</a:t>
            </a:r>
            <a:r>
              <a:rPr lang="en-IN" dirty="0"/>
              <a:t>, "Deep Learning-Based System for Automatic Skin Disease Classification," in </a:t>
            </a:r>
            <a:r>
              <a:rPr lang="en-IN" i="1" dirty="0"/>
              <a:t>2020 IEEE 15th International Conference on Computer Science and Education (ICCSE)</a:t>
            </a:r>
            <a:r>
              <a:rPr lang="en-IN" dirty="0"/>
              <a:t>, 2020, pp. 313-318.</a:t>
            </a:r>
          </a:p>
          <a:p>
            <a:r>
              <a:rPr lang="en-IN" dirty="0"/>
              <a:t>[4] G. J. P. B. Diaz, A. D. C. P. B. Gonzales, A. C. B. H. L. B. H. Lim, et al., "</a:t>
            </a:r>
            <a:r>
              <a:rPr lang="en-IN" dirty="0" err="1"/>
              <a:t>DermaScan</a:t>
            </a:r>
            <a:r>
              <a:rPr lang="en-IN" dirty="0"/>
              <a:t>: A Mobile-Assisted Skin Lesion Classification Using Deep Learning," in </a:t>
            </a:r>
            <a:r>
              <a:rPr lang="en-IN" i="1" dirty="0"/>
              <a:t>2022 IEEE 14th International Conference on Humanoid, Nanotechnology, Information Technology, Communication and Control, Environment, and Management (HNICEM)</a:t>
            </a:r>
            <a:r>
              <a:rPr lang="en-IN" dirty="0"/>
              <a:t>, 2022, pp. 1-6.</a:t>
            </a:r>
          </a:p>
          <a:p>
            <a:r>
              <a:rPr lang="en-IN" dirty="0"/>
              <a:t>[5] M. A. Kashem, M. T. I. Papon, N. F. T. </a:t>
            </a:r>
            <a:r>
              <a:rPr lang="en-IN" dirty="0" err="1"/>
              <a:t>Zohora</a:t>
            </a:r>
            <a:r>
              <a:rPr lang="en-IN" dirty="0"/>
              <a:t>, and M. I. H. Swarna, "Derma-AI: A Deep Learning Based Mobile Application for Skin-Lesion Classification," in </a:t>
            </a:r>
            <a:r>
              <a:rPr lang="en-IN" i="1" dirty="0"/>
              <a:t>2021 International Conference on Information and Communication Technology for Sustainable Development (ICICT4SD)</a:t>
            </a:r>
            <a:r>
              <a:rPr lang="en-IN" dirty="0"/>
              <a:t>, 2021, pp. 343-347.</a:t>
            </a:r>
          </a:p>
          <a:p>
            <a:r>
              <a:rPr lang="en-IN" dirty="0"/>
              <a:t>[6] J. Blessy, P. S. Kumar, and C. S. R. </a:t>
            </a:r>
            <a:r>
              <a:rPr lang="en-IN" dirty="0" err="1"/>
              <a:t>Annavarapu</a:t>
            </a:r>
            <a:r>
              <a:rPr lang="en-IN" dirty="0"/>
              <a:t>, "</a:t>
            </a:r>
            <a:r>
              <a:rPr lang="en-IN" dirty="0" err="1"/>
              <a:t>DermaDetect</a:t>
            </a:r>
            <a:r>
              <a:rPr lang="en-IN" dirty="0"/>
              <a:t>: An Android Application for Skin Disease Detection Using MobileNetV2," in </a:t>
            </a:r>
            <a:r>
              <a:rPr lang="en-IN" i="1" dirty="0"/>
              <a:t>2023 International Conference on Computer Communication and Informatics (ICCCI)</a:t>
            </a:r>
            <a:r>
              <a:rPr lang="en-IN" dirty="0"/>
              <a:t>, 2023, pp. 1-6.</a:t>
            </a:r>
          </a:p>
          <a:p>
            <a:r>
              <a:rPr lang="en-IN" dirty="0"/>
              <a:t>[7] A. S, S. G, S. L, V. D, and J. C. D, "Skin Disease Detection using Machine Learning," in </a:t>
            </a:r>
            <a:r>
              <a:rPr lang="en-IN" i="1" dirty="0"/>
              <a:t>2023 7th International Conference on Computing Methodologies and Communication (ICCMC)</a:t>
            </a:r>
            <a:r>
              <a:rPr lang="en-IN" dirty="0"/>
              <a:t>, 2023, pp. 1-7.</a:t>
            </a:r>
          </a:p>
          <a:p>
            <a:r>
              <a:rPr lang="en-IN" dirty="0"/>
              <a:t>[8] L. Yu, H. Chen, Q. Dou, J. Qin, and P. A. Heng, "Skin Disease Recognition using a Novel Multipath and Deformable CNN," in </a:t>
            </a:r>
            <a:r>
              <a:rPr lang="en-IN" i="1" dirty="0"/>
              <a:t>2020 IEEE 17th International Symposium on Biomedical Imaging (ISBI)</a:t>
            </a:r>
            <a:r>
              <a:rPr lang="en-IN" dirty="0"/>
              <a:t>, 2020, pp. 1324-1327.</a:t>
            </a:r>
          </a:p>
          <a:p>
            <a:r>
              <a:rPr lang="en-IN" dirty="0"/>
              <a:t>[9] M. A. Al-</a:t>
            </a:r>
            <a:r>
              <a:rPr lang="en-IN" dirty="0" err="1"/>
              <a:t>Masni</a:t>
            </a:r>
            <a:r>
              <a:rPr lang="en-IN" dirty="0"/>
              <a:t>, M. A. Kim, and T. S. Kim, "An improved skin cancer classification using a novel deep learning model," in </a:t>
            </a:r>
            <a:r>
              <a:rPr lang="en-IN" i="1" dirty="0"/>
              <a:t>2018 40th Annual International Conference of the IEEE Engineering in Medicine and Biology Society (EMBC)</a:t>
            </a:r>
            <a:r>
              <a:rPr lang="en-IN" dirty="0"/>
              <a:t>, 2018, pp. 1-4.</a:t>
            </a:r>
          </a:p>
          <a:p>
            <a:r>
              <a:rPr lang="en-IN" dirty="0"/>
              <a:t>[10] A. Hekal, A. El-</a:t>
            </a:r>
            <a:r>
              <a:rPr lang="en-IN" dirty="0" err="1"/>
              <a:t>Dahshan</a:t>
            </a:r>
            <a:r>
              <a:rPr lang="en-IN" dirty="0"/>
              <a:t>, and S. A. El-</a:t>
            </a:r>
            <a:r>
              <a:rPr lang="en-IN" dirty="0" err="1"/>
              <a:t>Dahshan</a:t>
            </a:r>
            <a:r>
              <a:rPr lang="en-IN" dirty="0"/>
              <a:t>, "An Automated Dermatological System for Diagnosis and Treatment of Skin Diseases," in </a:t>
            </a:r>
            <a:r>
              <a:rPr lang="en-IN" i="1" dirty="0"/>
              <a:t>2020 16th International Computer Engineering Conference (ICENCO)</a:t>
            </a:r>
            <a:r>
              <a:rPr lang="en-IN" dirty="0"/>
              <a:t>, 2020, pp. 1-6.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646</TotalTime>
  <Words>1600</Words>
  <Application>Microsoft Office PowerPoint</Application>
  <PresentationFormat>Widescreen</PresentationFormat>
  <Paragraphs>118</Paragraphs>
  <Slides>14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Cambria</vt:lpstr>
      <vt:lpstr>Verdana</vt:lpstr>
      <vt:lpstr>Bioinformatics</vt:lpstr>
      <vt:lpstr>Al-BASED TOOL FOR PRELIMINARY DIAGNOSIS OF DERMATOLOGICAL MANIFESTATIONS</vt:lpstr>
      <vt:lpstr>Problem Statement Number: PSCS_49 </vt:lpstr>
      <vt:lpstr>Objective</vt:lpstr>
      <vt:lpstr>Existing Methods and Drawbacks</vt:lpstr>
      <vt:lpstr>Summary and Critique</vt:lpstr>
      <vt:lpstr>Proposed Methods and Feasible Study</vt:lpstr>
      <vt:lpstr>PowerPoint Presentation</vt:lpstr>
      <vt:lpstr>Architecture Diagram</vt:lpstr>
      <vt:lpstr>Modules</vt:lpstr>
      <vt:lpstr>Github Link</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Lakshmipriya Narayan</cp:lastModifiedBy>
  <cp:revision>41</cp:revision>
  <dcterms:modified xsi:type="dcterms:W3CDTF">2025-09-07T08:14:28Z</dcterms:modified>
</cp:coreProperties>
</file>